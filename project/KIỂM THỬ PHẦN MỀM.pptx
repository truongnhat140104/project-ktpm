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Asap Bold" charset="1" panose="020F0804030202060203"/>
      <p:regular r:id="rId35"/>
    </p:embeddedFont>
    <p:embeddedFont>
      <p:font typeface="Asap" charset="1" panose="020F0504030202060203"/>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38185">
            <a:off x="-706211" y="-22202"/>
            <a:ext cx="4437529" cy="4114800"/>
          </a:xfrm>
          <a:custGeom>
            <a:avLst/>
            <a:gdLst/>
            <a:ahLst/>
            <a:cxnLst/>
            <a:rect r="r" b="b" t="t" l="l"/>
            <a:pathLst>
              <a:path h="4114800" w="4437529">
                <a:moveTo>
                  <a:pt x="0" y="0"/>
                </a:moveTo>
                <a:lnTo>
                  <a:pt x="4437530" y="0"/>
                </a:lnTo>
                <a:lnTo>
                  <a:pt x="44375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26403" y="1425969"/>
            <a:ext cx="14835194" cy="3465513"/>
            <a:chOff x="0" y="0"/>
            <a:chExt cx="2658299" cy="620981"/>
          </a:xfrm>
        </p:grpSpPr>
        <p:sp>
          <p:nvSpPr>
            <p:cNvPr name="Freeform 4" id="4"/>
            <p:cNvSpPr/>
            <p:nvPr/>
          </p:nvSpPr>
          <p:spPr>
            <a:xfrm flipH="false" flipV="false" rot="0">
              <a:off x="0" y="0"/>
              <a:ext cx="2658299" cy="620981"/>
            </a:xfrm>
            <a:custGeom>
              <a:avLst/>
              <a:gdLst/>
              <a:ahLst/>
              <a:cxnLst/>
              <a:rect r="r" b="b" t="t" l="l"/>
              <a:pathLst>
                <a:path h="620981" w="2658299">
                  <a:moveTo>
                    <a:pt x="10437" y="0"/>
                  </a:moveTo>
                  <a:lnTo>
                    <a:pt x="2647862" y="0"/>
                  </a:lnTo>
                  <a:cubicBezTo>
                    <a:pt x="2650630" y="0"/>
                    <a:pt x="2653285" y="1100"/>
                    <a:pt x="2655242" y="3057"/>
                  </a:cubicBezTo>
                  <a:cubicBezTo>
                    <a:pt x="2657200" y="5014"/>
                    <a:pt x="2658299" y="7669"/>
                    <a:pt x="2658299" y="10437"/>
                  </a:cubicBezTo>
                  <a:lnTo>
                    <a:pt x="2658299" y="610543"/>
                  </a:lnTo>
                  <a:cubicBezTo>
                    <a:pt x="2658299" y="613312"/>
                    <a:pt x="2657200" y="615966"/>
                    <a:pt x="2655242" y="617924"/>
                  </a:cubicBezTo>
                  <a:cubicBezTo>
                    <a:pt x="2653285" y="619881"/>
                    <a:pt x="2650630" y="620981"/>
                    <a:pt x="2647862" y="620981"/>
                  </a:cubicBezTo>
                  <a:lnTo>
                    <a:pt x="10437" y="620981"/>
                  </a:lnTo>
                  <a:cubicBezTo>
                    <a:pt x="7669" y="620981"/>
                    <a:pt x="5014" y="619881"/>
                    <a:pt x="3057" y="617924"/>
                  </a:cubicBezTo>
                  <a:cubicBezTo>
                    <a:pt x="1100" y="615966"/>
                    <a:pt x="0" y="613312"/>
                    <a:pt x="0" y="610543"/>
                  </a:cubicBezTo>
                  <a:lnTo>
                    <a:pt x="0" y="10437"/>
                  </a:lnTo>
                  <a:cubicBezTo>
                    <a:pt x="0" y="7669"/>
                    <a:pt x="1100" y="5014"/>
                    <a:pt x="3057" y="3057"/>
                  </a:cubicBezTo>
                  <a:cubicBezTo>
                    <a:pt x="5014" y="1100"/>
                    <a:pt x="7669" y="0"/>
                    <a:pt x="10437" y="0"/>
                  </a:cubicBezTo>
                  <a:close/>
                </a:path>
              </a:pathLst>
            </a:custGeom>
            <a:solidFill>
              <a:srgbClr val="FCFEF7"/>
            </a:solidFill>
            <a:ln w="38100" cap="sq">
              <a:solidFill>
                <a:srgbClr val="000000"/>
              </a:solidFill>
              <a:prstDash val="solid"/>
              <a:miter/>
            </a:ln>
          </p:spPr>
        </p:sp>
        <p:sp>
          <p:nvSpPr>
            <p:cNvPr name="TextBox 5" id="5"/>
            <p:cNvSpPr txBox="true"/>
            <p:nvPr/>
          </p:nvSpPr>
          <p:spPr>
            <a:xfrm>
              <a:off x="0" y="-47625"/>
              <a:ext cx="2658299" cy="668606"/>
            </a:xfrm>
            <a:prstGeom prst="rect">
              <a:avLst/>
            </a:prstGeom>
          </p:spPr>
          <p:txBody>
            <a:bodyPr anchor="ctr" rtlCol="false" tIns="50800" lIns="50800" bIns="50800" rIns="50800"/>
            <a:lstStyle/>
            <a:p>
              <a:pPr algn="ctr">
                <a:lnSpc>
                  <a:spcPts val="8125"/>
                </a:lnSpc>
              </a:pPr>
              <a:r>
                <a:rPr lang="en-US" sz="6500" b="true">
                  <a:solidFill>
                    <a:srgbClr val="000000"/>
                  </a:solidFill>
                  <a:latin typeface="Asap Bold"/>
                  <a:ea typeface="Asap Bold"/>
                  <a:cs typeface="Asap Bold"/>
                  <a:sym typeface="Asap Bold"/>
                </a:rPr>
                <a:t>ĐỀ TÀI: Kiểm thử Website Fast Food Delivery trên mô hình Agile CI/CD</a:t>
              </a:r>
            </a:p>
          </p:txBody>
        </p:sp>
      </p:grpSp>
      <p:grpSp>
        <p:nvGrpSpPr>
          <p:cNvPr name="Group 6" id="6"/>
          <p:cNvGrpSpPr/>
          <p:nvPr/>
        </p:nvGrpSpPr>
        <p:grpSpPr>
          <a:xfrm rot="0">
            <a:off x="4731981" y="421391"/>
            <a:ext cx="8824038" cy="962025"/>
            <a:chOff x="0" y="0"/>
            <a:chExt cx="1581168" cy="172384"/>
          </a:xfrm>
        </p:grpSpPr>
        <p:sp>
          <p:nvSpPr>
            <p:cNvPr name="Freeform 7" id="7"/>
            <p:cNvSpPr/>
            <p:nvPr/>
          </p:nvSpPr>
          <p:spPr>
            <a:xfrm flipH="false" flipV="false" rot="0">
              <a:off x="0" y="0"/>
              <a:ext cx="1581168" cy="172384"/>
            </a:xfrm>
            <a:custGeom>
              <a:avLst/>
              <a:gdLst/>
              <a:ahLst/>
              <a:cxnLst/>
              <a:rect r="r" b="b" t="t" l="l"/>
              <a:pathLst>
                <a:path h="172384" w="1581168">
                  <a:moveTo>
                    <a:pt x="17547" y="0"/>
                  </a:moveTo>
                  <a:lnTo>
                    <a:pt x="1563621" y="0"/>
                  </a:lnTo>
                  <a:cubicBezTo>
                    <a:pt x="1568275" y="0"/>
                    <a:pt x="1572738" y="1849"/>
                    <a:pt x="1576029" y="5139"/>
                  </a:cubicBezTo>
                  <a:cubicBezTo>
                    <a:pt x="1579319" y="8430"/>
                    <a:pt x="1581168" y="12893"/>
                    <a:pt x="1581168" y="17547"/>
                  </a:cubicBezTo>
                  <a:lnTo>
                    <a:pt x="1581168" y="154837"/>
                  </a:lnTo>
                  <a:cubicBezTo>
                    <a:pt x="1581168" y="159491"/>
                    <a:pt x="1579319" y="163954"/>
                    <a:pt x="1576029" y="167245"/>
                  </a:cubicBezTo>
                  <a:cubicBezTo>
                    <a:pt x="1572738" y="170535"/>
                    <a:pt x="1568275" y="172384"/>
                    <a:pt x="1563621" y="172384"/>
                  </a:cubicBezTo>
                  <a:lnTo>
                    <a:pt x="17547" y="172384"/>
                  </a:lnTo>
                  <a:cubicBezTo>
                    <a:pt x="12893" y="172384"/>
                    <a:pt x="8430" y="170535"/>
                    <a:pt x="5139" y="167245"/>
                  </a:cubicBezTo>
                  <a:cubicBezTo>
                    <a:pt x="1849" y="163954"/>
                    <a:pt x="0" y="159491"/>
                    <a:pt x="0" y="154837"/>
                  </a:cubicBezTo>
                  <a:lnTo>
                    <a:pt x="0" y="17547"/>
                  </a:lnTo>
                  <a:cubicBezTo>
                    <a:pt x="0" y="12893"/>
                    <a:pt x="1849" y="8430"/>
                    <a:pt x="5139" y="5139"/>
                  </a:cubicBezTo>
                  <a:cubicBezTo>
                    <a:pt x="8430" y="1849"/>
                    <a:pt x="12893" y="0"/>
                    <a:pt x="17547" y="0"/>
                  </a:cubicBezTo>
                  <a:close/>
                </a:path>
              </a:pathLst>
            </a:custGeom>
            <a:solidFill>
              <a:srgbClr val="FFE9E4"/>
            </a:solidFill>
            <a:ln w="38100" cap="sq">
              <a:solidFill>
                <a:srgbClr val="F8CAB9"/>
              </a:solidFill>
              <a:prstDash val="solid"/>
              <a:miter/>
            </a:ln>
          </p:spPr>
        </p:sp>
        <p:sp>
          <p:nvSpPr>
            <p:cNvPr name="TextBox 8" id="8"/>
            <p:cNvSpPr txBox="true"/>
            <p:nvPr/>
          </p:nvSpPr>
          <p:spPr>
            <a:xfrm>
              <a:off x="0" y="-85725"/>
              <a:ext cx="1581168" cy="258109"/>
            </a:xfrm>
            <a:prstGeom prst="rect">
              <a:avLst/>
            </a:prstGeom>
          </p:spPr>
          <p:txBody>
            <a:bodyPr anchor="ctr" rtlCol="false" tIns="50800" lIns="50800" bIns="50800" rIns="50800"/>
            <a:lstStyle/>
            <a:p>
              <a:pPr algn="ctr" marL="0" indent="0" lvl="0">
                <a:lnSpc>
                  <a:spcPts val="5880"/>
                </a:lnSpc>
                <a:spcBef>
                  <a:spcPct val="0"/>
                </a:spcBef>
              </a:pPr>
              <a:r>
                <a:rPr lang="en-US" b="true" sz="4200">
                  <a:solidFill>
                    <a:srgbClr val="101010"/>
                  </a:solidFill>
                  <a:latin typeface="Asap Bold"/>
                  <a:ea typeface="Asap Bold"/>
                  <a:cs typeface="Asap Bold"/>
                  <a:sym typeface="Asap Bold"/>
                </a:rPr>
                <a:t>KIỂM THỬ PHẦN MỀM </a:t>
              </a:r>
            </a:p>
          </p:txBody>
        </p:sp>
      </p:grpSp>
      <p:sp>
        <p:nvSpPr>
          <p:cNvPr name="Freeform 9" id="9"/>
          <p:cNvSpPr/>
          <p:nvPr/>
        </p:nvSpPr>
        <p:spPr>
          <a:xfrm flipH="false" flipV="false" rot="-1856826">
            <a:off x="8025990" y="8488412"/>
            <a:ext cx="4437529" cy="4114800"/>
          </a:xfrm>
          <a:custGeom>
            <a:avLst/>
            <a:gdLst/>
            <a:ahLst/>
            <a:cxnLst/>
            <a:rect r="r" b="b" t="t" l="l"/>
            <a:pathLst>
              <a:path h="4114800" w="4437529">
                <a:moveTo>
                  <a:pt x="0" y="0"/>
                </a:moveTo>
                <a:lnTo>
                  <a:pt x="4437529" y="0"/>
                </a:lnTo>
                <a:lnTo>
                  <a:pt x="44375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1289129" y="1529654"/>
            <a:ext cx="2933159" cy="1858525"/>
            <a:chOff x="0" y="0"/>
            <a:chExt cx="466325" cy="295476"/>
          </a:xfrm>
        </p:grpSpPr>
        <p:sp>
          <p:nvSpPr>
            <p:cNvPr name="Freeform 3" id="3"/>
            <p:cNvSpPr/>
            <p:nvPr/>
          </p:nvSpPr>
          <p:spPr>
            <a:xfrm flipH="false" flipV="false" rot="0">
              <a:off x="0" y="0"/>
              <a:ext cx="466325" cy="295476"/>
            </a:xfrm>
            <a:custGeom>
              <a:avLst/>
              <a:gdLst/>
              <a:ahLst/>
              <a:cxnLst/>
              <a:rect r="r" b="b" t="t" l="l"/>
              <a:pathLst>
                <a:path h="295476" w="466325">
                  <a:moveTo>
                    <a:pt x="52789" y="0"/>
                  </a:moveTo>
                  <a:lnTo>
                    <a:pt x="413536" y="0"/>
                  </a:lnTo>
                  <a:cubicBezTo>
                    <a:pt x="442691" y="0"/>
                    <a:pt x="466325" y="23634"/>
                    <a:pt x="466325" y="52789"/>
                  </a:cubicBezTo>
                  <a:lnTo>
                    <a:pt x="466325" y="242687"/>
                  </a:lnTo>
                  <a:cubicBezTo>
                    <a:pt x="466325" y="271841"/>
                    <a:pt x="442691" y="295476"/>
                    <a:pt x="413536" y="295476"/>
                  </a:cubicBezTo>
                  <a:lnTo>
                    <a:pt x="52789" y="295476"/>
                  </a:lnTo>
                  <a:cubicBezTo>
                    <a:pt x="23634" y="295476"/>
                    <a:pt x="0" y="271841"/>
                    <a:pt x="0" y="242687"/>
                  </a:cubicBezTo>
                  <a:lnTo>
                    <a:pt x="0" y="52789"/>
                  </a:lnTo>
                  <a:cubicBezTo>
                    <a:pt x="0" y="23634"/>
                    <a:pt x="23634" y="0"/>
                    <a:pt x="52789"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466325" cy="343101"/>
            </a:xfrm>
            <a:prstGeom prst="rect">
              <a:avLst/>
            </a:prstGeom>
          </p:spPr>
          <p:txBody>
            <a:bodyPr anchor="ctr" rtlCol="false" tIns="254000" lIns="254000" bIns="254000" rIns="254000"/>
            <a:lstStyle/>
            <a:p>
              <a:pPr algn="ctr">
                <a:lnSpc>
                  <a:spcPts val="4160"/>
                </a:lnSpc>
              </a:pPr>
              <a:r>
                <a:rPr lang="en-US" b="true" sz="3200">
                  <a:solidFill>
                    <a:srgbClr val="000000"/>
                  </a:solidFill>
                  <a:latin typeface="Asap Bold"/>
                  <a:ea typeface="Asap Bold"/>
                  <a:cs typeface="Asap Bold"/>
                  <a:sym typeface="Asap Bold"/>
                </a:rPr>
                <a:t>BỐI CẢNH CHỌN</a:t>
              </a:r>
              <a:r>
                <a:rPr lang="en-US" b="true" sz="3200" u="none">
                  <a:solidFill>
                    <a:srgbClr val="000000"/>
                  </a:solidFill>
                  <a:latin typeface="Asap Bold"/>
                  <a:ea typeface="Asap Bold"/>
                  <a:cs typeface="Asap Bold"/>
                  <a:sym typeface="Asap Bold"/>
                </a:rPr>
                <a:t> ĐỀ TÀI</a:t>
              </a:r>
            </a:p>
          </p:txBody>
        </p:sp>
      </p:grpSp>
      <p:grpSp>
        <p:nvGrpSpPr>
          <p:cNvPr name="Group 5" id="5"/>
          <p:cNvGrpSpPr/>
          <p:nvPr/>
        </p:nvGrpSpPr>
        <p:grpSpPr>
          <a:xfrm rot="0">
            <a:off x="7577500" y="1529654"/>
            <a:ext cx="2933159" cy="1858525"/>
            <a:chOff x="0" y="0"/>
            <a:chExt cx="466325" cy="295476"/>
          </a:xfrm>
        </p:grpSpPr>
        <p:sp>
          <p:nvSpPr>
            <p:cNvPr name="Freeform 6" id="6"/>
            <p:cNvSpPr/>
            <p:nvPr/>
          </p:nvSpPr>
          <p:spPr>
            <a:xfrm flipH="false" flipV="false" rot="0">
              <a:off x="0" y="0"/>
              <a:ext cx="466325" cy="295476"/>
            </a:xfrm>
            <a:custGeom>
              <a:avLst/>
              <a:gdLst/>
              <a:ahLst/>
              <a:cxnLst/>
              <a:rect r="r" b="b" t="t" l="l"/>
              <a:pathLst>
                <a:path h="295476" w="466325">
                  <a:moveTo>
                    <a:pt x="52789" y="0"/>
                  </a:moveTo>
                  <a:lnTo>
                    <a:pt x="413536" y="0"/>
                  </a:lnTo>
                  <a:cubicBezTo>
                    <a:pt x="442691" y="0"/>
                    <a:pt x="466325" y="23634"/>
                    <a:pt x="466325" y="52789"/>
                  </a:cubicBezTo>
                  <a:lnTo>
                    <a:pt x="466325" y="242687"/>
                  </a:lnTo>
                  <a:cubicBezTo>
                    <a:pt x="466325" y="271841"/>
                    <a:pt x="442691" y="295476"/>
                    <a:pt x="413536" y="295476"/>
                  </a:cubicBezTo>
                  <a:lnTo>
                    <a:pt x="52789" y="295476"/>
                  </a:lnTo>
                  <a:cubicBezTo>
                    <a:pt x="23634" y="295476"/>
                    <a:pt x="0" y="271841"/>
                    <a:pt x="0" y="242687"/>
                  </a:cubicBezTo>
                  <a:lnTo>
                    <a:pt x="0" y="52789"/>
                  </a:lnTo>
                  <a:cubicBezTo>
                    <a:pt x="0" y="23634"/>
                    <a:pt x="23634" y="0"/>
                    <a:pt x="52789" y="0"/>
                  </a:cubicBezTo>
                  <a:close/>
                </a:path>
              </a:pathLst>
            </a:custGeom>
            <a:solidFill>
              <a:srgbClr val="FCFEF7"/>
            </a:solidFill>
            <a:ln w="38100" cap="sq">
              <a:solidFill>
                <a:srgbClr val="000000"/>
              </a:solidFill>
              <a:prstDash val="solid"/>
              <a:miter/>
            </a:ln>
          </p:spPr>
        </p:sp>
        <p:sp>
          <p:nvSpPr>
            <p:cNvPr name="TextBox 7" id="7"/>
            <p:cNvSpPr txBox="true"/>
            <p:nvPr/>
          </p:nvSpPr>
          <p:spPr>
            <a:xfrm>
              <a:off x="0" y="-47625"/>
              <a:ext cx="466325" cy="343101"/>
            </a:xfrm>
            <a:prstGeom prst="rect">
              <a:avLst/>
            </a:prstGeom>
          </p:spPr>
          <p:txBody>
            <a:bodyPr anchor="ctr" rtlCol="false" tIns="254000" lIns="254000" bIns="254000" rIns="254000"/>
            <a:lstStyle/>
            <a:p>
              <a:pPr algn="ctr">
                <a:lnSpc>
                  <a:spcPts val="4160"/>
                </a:lnSpc>
              </a:pPr>
              <a:r>
                <a:rPr lang="en-US" b="true" sz="3200">
                  <a:solidFill>
                    <a:srgbClr val="000000"/>
                  </a:solidFill>
                  <a:latin typeface="Asap Bold"/>
                  <a:ea typeface="Asap Bold"/>
                  <a:cs typeface="Asap Bold"/>
                  <a:sym typeface="Asap Bold"/>
                </a:rPr>
                <a:t>Mục tiêu đề</a:t>
              </a:r>
              <a:r>
                <a:rPr lang="en-US" b="true" sz="3200" u="none">
                  <a:solidFill>
                    <a:srgbClr val="000000"/>
                  </a:solidFill>
                  <a:latin typeface="Asap Bold"/>
                  <a:ea typeface="Asap Bold"/>
                  <a:cs typeface="Asap Bold"/>
                  <a:sym typeface="Asap Bold"/>
                </a:rPr>
                <a:t> tài</a:t>
              </a:r>
            </a:p>
          </p:txBody>
        </p:sp>
      </p:grpSp>
      <p:grpSp>
        <p:nvGrpSpPr>
          <p:cNvPr name="Group 8" id="8"/>
          <p:cNvGrpSpPr/>
          <p:nvPr/>
        </p:nvGrpSpPr>
        <p:grpSpPr>
          <a:xfrm rot="0">
            <a:off x="13965769" y="1660721"/>
            <a:ext cx="2933159" cy="1596391"/>
            <a:chOff x="0" y="0"/>
            <a:chExt cx="466325" cy="253801"/>
          </a:xfrm>
        </p:grpSpPr>
        <p:sp>
          <p:nvSpPr>
            <p:cNvPr name="Freeform 9" id="9"/>
            <p:cNvSpPr/>
            <p:nvPr/>
          </p:nvSpPr>
          <p:spPr>
            <a:xfrm flipH="false" flipV="false" rot="0">
              <a:off x="0" y="0"/>
              <a:ext cx="466325" cy="253801"/>
            </a:xfrm>
            <a:custGeom>
              <a:avLst/>
              <a:gdLst/>
              <a:ahLst/>
              <a:cxnLst/>
              <a:rect r="r" b="b" t="t" l="l"/>
              <a:pathLst>
                <a:path h="253801" w="466325">
                  <a:moveTo>
                    <a:pt x="52789" y="0"/>
                  </a:moveTo>
                  <a:lnTo>
                    <a:pt x="413536" y="0"/>
                  </a:lnTo>
                  <a:cubicBezTo>
                    <a:pt x="442691" y="0"/>
                    <a:pt x="466325" y="23634"/>
                    <a:pt x="466325" y="52789"/>
                  </a:cubicBezTo>
                  <a:lnTo>
                    <a:pt x="466325" y="201012"/>
                  </a:lnTo>
                  <a:cubicBezTo>
                    <a:pt x="466325" y="230166"/>
                    <a:pt x="442691" y="253801"/>
                    <a:pt x="413536" y="253801"/>
                  </a:cubicBezTo>
                  <a:lnTo>
                    <a:pt x="52789" y="253801"/>
                  </a:lnTo>
                  <a:cubicBezTo>
                    <a:pt x="23634" y="253801"/>
                    <a:pt x="0" y="230166"/>
                    <a:pt x="0" y="201012"/>
                  </a:cubicBezTo>
                  <a:lnTo>
                    <a:pt x="0" y="52789"/>
                  </a:lnTo>
                  <a:cubicBezTo>
                    <a:pt x="0" y="23634"/>
                    <a:pt x="23634" y="0"/>
                    <a:pt x="52789" y="0"/>
                  </a:cubicBezTo>
                  <a:close/>
                </a:path>
              </a:pathLst>
            </a:custGeom>
            <a:solidFill>
              <a:srgbClr val="FCFEF7"/>
            </a:solidFill>
            <a:ln w="38100" cap="sq">
              <a:solidFill>
                <a:srgbClr val="000000"/>
              </a:solidFill>
              <a:prstDash val="solid"/>
              <a:miter/>
            </a:ln>
          </p:spPr>
        </p:sp>
        <p:sp>
          <p:nvSpPr>
            <p:cNvPr name="TextBox 10" id="10"/>
            <p:cNvSpPr txBox="true"/>
            <p:nvPr/>
          </p:nvSpPr>
          <p:spPr>
            <a:xfrm>
              <a:off x="0" y="-47625"/>
              <a:ext cx="466325" cy="301426"/>
            </a:xfrm>
            <a:prstGeom prst="rect">
              <a:avLst/>
            </a:prstGeom>
          </p:spPr>
          <p:txBody>
            <a:bodyPr anchor="ctr" rtlCol="false" tIns="254000" lIns="254000" bIns="254000" rIns="254000"/>
            <a:lstStyle/>
            <a:p>
              <a:pPr algn="ctr">
                <a:lnSpc>
                  <a:spcPts val="4160"/>
                </a:lnSpc>
              </a:pPr>
              <a:r>
                <a:rPr lang="en-US" b="true" sz="3200">
                  <a:solidFill>
                    <a:srgbClr val="000000"/>
                  </a:solidFill>
                  <a:latin typeface="Asap Bold"/>
                  <a:ea typeface="Asap Bold"/>
                  <a:cs typeface="Asap Bold"/>
                  <a:sym typeface="Asap Bold"/>
                </a:rPr>
                <a:t>Đối tượng ng</a:t>
              </a:r>
              <a:r>
                <a:rPr lang="en-US" b="true" sz="3200" u="none">
                  <a:solidFill>
                    <a:srgbClr val="000000"/>
                  </a:solidFill>
                  <a:latin typeface="Asap Bold"/>
                  <a:ea typeface="Asap Bold"/>
                  <a:cs typeface="Asap Bold"/>
                  <a:sym typeface="Asap Bold"/>
                </a:rPr>
                <a:t>hiên cứu</a:t>
              </a:r>
            </a:p>
          </p:txBody>
        </p:sp>
      </p:grpSp>
      <p:grpSp>
        <p:nvGrpSpPr>
          <p:cNvPr name="Group 11" id="11"/>
          <p:cNvGrpSpPr/>
          <p:nvPr/>
        </p:nvGrpSpPr>
        <p:grpSpPr>
          <a:xfrm rot="0">
            <a:off x="554343" y="4075080"/>
            <a:ext cx="5342463" cy="5787391"/>
            <a:chOff x="0" y="0"/>
            <a:chExt cx="849366" cy="920103"/>
          </a:xfrm>
        </p:grpSpPr>
        <p:sp>
          <p:nvSpPr>
            <p:cNvPr name="Freeform 12" id="12"/>
            <p:cNvSpPr/>
            <p:nvPr/>
          </p:nvSpPr>
          <p:spPr>
            <a:xfrm flipH="false" flipV="false" rot="0">
              <a:off x="0" y="0"/>
              <a:ext cx="849366" cy="920103"/>
            </a:xfrm>
            <a:custGeom>
              <a:avLst/>
              <a:gdLst/>
              <a:ahLst/>
              <a:cxnLst/>
              <a:rect r="r" b="b" t="t" l="l"/>
              <a:pathLst>
                <a:path h="920103" w="849366">
                  <a:moveTo>
                    <a:pt x="28983" y="0"/>
                  </a:moveTo>
                  <a:lnTo>
                    <a:pt x="820384" y="0"/>
                  </a:lnTo>
                  <a:cubicBezTo>
                    <a:pt x="836390" y="0"/>
                    <a:pt x="849366" y="12976"/>
                    <a:pt x="849366" y="28983"/>
                  </a:cubicBezTo>
                  <a:lnTo>
                    <a:pt x="849366" y="891120"/>
                  </a:lnTo>
                  <a:cubicBezTo>
                    <a:pt x="849366" y="898807"/>
                    <a:pt x="846313" y="906179"/>
                    <a:pt x="840877" y="911614"/>
                  </a:cubicBezTo>
                  <a:cubicBezTo>
                    <a:pt x="835442" y="917049"/>
                    <a:pt x="828070" y="920103"/>
                    <a:pt x="820384" y="920103"/>
                  </a:cubicBezTo>
                  <a:lnTo>
                    <a:pt x="28983" y="920103"/>
                  </a:lnTo>
                  <a:cubicBezTo>
                    <a:pt x="21296" y="920103"/>
                    <a:pt x="13924" y="917049"/>
                    <a:pt x="8489" y="911614"/>
                  </a:cubicBezTo>
                  <a:cubicBezTo>
                    <a:pt x="3054" y="906179"/>
                    <a:pt x="0" y="898807"/>
                    <a:pt x="0" y="891120"/>
                  </a:cubicBezTo>
                  <a:lnTo>
                    <a:pt x="0" y="28983"/>
                  </a:lnTo>
                  <a:cubicBezTo>
                    <a:pt x="0" y="21296"/>
                    <a:pt x="3054" y="13924"/>
                    <a:pt x="8489" y="8489"/>
                  </a:cubicBezTo>
                  <a:cubicBezTo>
                    <a:pt x="13924" y="3054"/>
                    <a:pt x="21296" y="0"/>
                    <a:pt x="28983" y="0"/>
                  </a:cubicBezTo>
                  <a:close/>
                </a:path>
              </a:pathLst>
            </a:custGeom>
            <a:solidFill>
              <a:srgbClr val="FCFEF7"/>
            </a:solidFill>
            <a:ln w="38100" cap="sq">
              <a:solidFill>
                <a:srgbClr val="000000"/>
              </a:solidFill>
              <a:prstDash val="solid"/>
              <a:miter/>
            </a:ln>
          </p:spPr>
        </p:sp>
        <p:sp>
          <p:nvSpPr>
            <p:cNvPr name="TextBox 13" id="13"/>
            <p:cNvSpPr txBox="true"/>
            <p:nvPr/>
          </p:nvSpPr>
          <p:spPr>
            <a:xfrm>
              <a:off x="0" y="-47625"/>
              <a:ext cx="849366" cy="967728"/>
            </a:xfrm>
            <a:prstGeom prst="rect">
              <a:avLst/>
            </a:prstGeom>
          </p:spPr>
          <p:txBody>
            <a:bodyPr anchor="ctr" rtlCol="false" tIns="254000" lIns="254000" bIns="254000" rIns="254000"/>
            <a:lstStyle/>
            <a:p>
              <a:pPr algn="l">
                <a:lnSpc>
                  <a:spcPts val="4160"/>
                </a:lnSpc>
              </a:pPr>
              <a:r>
                <a:rPr lang="en-US" sz="3200">
                  <a:solidFill>
                    <a:srgbClr val="000000"/>
                  </a:solidFill>
                  <a:latin typeface="Asap"/>
                  <a:ea typeface="Asap"/>
                  <a:cs typeface="Asap"/>
                  <a:sym typeface="Asap"/>
                </a:rPr>
                <a:t>•Ng</a:t>
              </a:r>
              <a:r>
                <a:rPr lang="en-US" sz="3200">
                  <a:solidFill>
                    <a:srgbClr val="000000"/>
                  </a:solidFill>
                  <a:latin typeface="Asap"/>
                  <a:ea typeface="Asap"/>
                  <a:cs typeface="Asap"/>
                  <a:sym typeface="Asap"/>
                </a:rPr>
                <a:t>ành F&amp;B cạnh tranh cao</a:t>
              </a:r>
            </a:p>
            <a:p>
              <a:pPr algn="l">
                <a:lnSpc>
                  <a:spcPts val="4160"/>
                </a:lnSpc>
              </a:pPr>
              <a:r>
                <a:rPr lang="en-US" sz="3200">
                  <a:solidFill>
                    <a:srgbClr val="000000"/>
                  </a:solidFill>
                  <a:latin typeface="Asap"/>
                  <a:ea typeface="Asap"/>
                  <a:cs typeface="Asap"/>
                  <a:sym typeface="Asap"/>
                </a:rPr>
                <a:t>•Website giao đồ ăn cần:</a:t>
              </a:r>
            </a:p>
            <a:p>
              <a:pPr algn="l">
                <a:lnSpc>
                  <a:spcPts val="4160"/>
                </a:lnSpc>
              </a:pPr>
              <a:r>
                <a:rPr lang="en-US" sz="3200">
                  <a:solidFill>
                    <a:srgbClr val="000000"/>
                  </a:solidFill>
                  <a:latin typeface="Asap"/>
                  <a:ea typeface="Asap"/>
                  <a:cs typeface="Asap"/>
                  <a:sym typeface="Asap"/>
                </a:rPr>
                <a:t>•Trải nghiệm mượt</a:t>
              </a:r>
            </a:p>
            <a:p>
              <a:pPr algn="l">
                <a:lnSpc>
                  <a:spcPts val="4160"/>
                </a:lnSpc>
              </a:pPr>
              <a:r>
                <a:rPr lang="en-US" sz="3200">
                  <a:solidFill>
                    <a:srgbClr val="000000"/>
                  </a:solidFill>
                  <a:latin typeface="Asap"/>
                  <a:ea typeface="Asap"/>
                  <a:cs typeface="Asap"/>
                  <a:sym typeface="Asap"/>
                </a:rPr>
                <a:t>•Không lỗi ở giỏ hàng &amp; thanh toán</a:t>
              </a:r>
            </a:p>
            <a:p>
              <a:pPr algn="l">
                <a:lnSpc>
                  <a:spcPts val="4160"/>
                </a:lnSpc>
              </a:pPr>
              <a:r>
                <a:rPr lang="en-US" sz="3200">
                  <a:solidFill>
                    <a:srgbClr val="000000"/>
                  </a:solidFill>
                  <a:latin typeface="Asap"/>
                  <a:ea typeface="Asap"/>
                  <a:cs typeface="Asap"/>
                  <a:sym typeface="Asap"/>
                </a:rPr>
                <a:t>•Kiểm thử thủ công → chậm, rủi ro cao</a:t>
              </a:r>
            </a:p>
            <a:p>
              <a:pPr algn="l">
                <a:lnSpc>
                  <a:spcPts val="4160"/>
                </a:lnSpc>
              </a:pPr>
              <a:r>
                <a:rPr lang="en-US" sz="3200">
                  <a:solidFill>
                    <a:srgbClr val="000000"/>
                  </a:solidFill>
                  <a:latin typeface="Asap"/>
                  <a:ea typeface="Asap"/>
                  <a:cs typeface="Asap"/>
                  <a:sym typeface="Asap"/>
                </a:rPr>
                <a:t>Cần Agile + CI/CD + Automation Testing</a:t>
              </a:r>
            </a:p>
          </p:txBody>
        </p:sp>
      </p:grpSp>
      <p:grpSp>
        <p:nvGrpSpPr>
          <p:cNvPr name="Group 14" id="14"/>
          <p:cNvGrpSpPr/>
          <p:nvPr/>
        </p:nvGrpSpPr>
        <p:grpSpPr>
          <a:xfrm rot="0">
            <a:off x="6850980" y="4075080"/>
            <a:ext cx="4977927" cy="5787391"/>
            <a:chOff x="0" y="0"/>
            <a:chExt cx="791411" cy="920103"/>
          </a:xfrm>
        </p:grpSpPr>
        <p:sp>
          <p:nvSpPr>
            <p:cNvPr name="Freeform 15" id="15"/>
            <p:cNvSpPr/>
            <p:nvPr/>
          </p:nvSpPr>
          <p:spPr>
            <a:xfrm flipH="false" flipV="false" rot="0">
              <a:off x="0" y="0"/>
              <a:ext cx="791411" cy="920103"/>
            </a:xfrm>
            <a:custGeom>
              <a:avLst/>
              <a:gdLst/>
              <a:ahLst/>
              <a:cxnLst/>
              <a:rect r="r" b="b" t="t" l="l"/>
              <a:pathLst>
                <a:path h="920103" w="791411">
                  <a:moveTo>
                    <a:pt x="31105" y="0"/>
                  </a:moveTo>
                  <a:lnTo>
                    <a:pt x="760306" y="0"/>
                  </a:lnTo>
                  <a:cubicBezTo>
                    <a:pt x="768555" y="0"/>
                    <a:pt x="776467" y="3277"/>
                    <a:pt x="782300" y="9110"/>
                  </a:cubicBezTo>
                  <a:cubicBezTo>
                    <a:pt x="788134" y="14944"/>
                    <a:pt x="791411" y="22855"/>
                    <a:pt x="791411" y="31105"/>
                  </a:cubicBezTo>
                  <a:lnTo>
                    <a:pt x="791411" y="888998"/>
                  </a:lnTo>
                  <a:cubicBezTo>
                    <a:pt x="791411" y="897247"/>
                    <a:pt x="788134" y="905159"/>
                    <a:pt x="782300" y="910992"/>
                  </a:cubicBezTo>
                  <a:cubicBezTo>
                    <a:pt x="776467" y="916825"/>
                    <a:pt x="768555" y="920103"/>
                    <a:pt x="760306" y="920103"/>
                  </a:cubicBezTo>
                  <a:lnTo>
                    <a:pt x="31105" y="920103"/>
                  </a:lnTo>
                  <a:cubicBezTo>
                    <a:pt x="22855" y="920103"/>
                    <a:pt x="14944" y="916825"/>
                    <a:pt x="9110" y="910992"/>
                  </a:cubicBezTo>
                  <a:cubicBezTo>
                    <a:pt x="3277" y="905159"/>
                    <a:pt x="0" y="897247"/>
                    <a:pt x="0" y="888998"/>
                  </a:cubicBezTo>
                  <a:lnTo>
                    <a:pt x="0" y="31105"/>
                  </a:lnTo>
                  <a:cubicBezTo>
                    <a:pt x="0" y="22855"/>
                    <a:pt x="3277" y="14944"/>
                    <a:pt x="9110" y="9110"/>
                  </a:cubicBezTo>
                  <a:cubicBezTo>
                    <a:pt x="14944" y="3277"/>
                    <a:pt x="22855" y="0"/>
                    <a:pt x="31105" y="0"/>
                  </a:cubicBezTo>
                  <a:close/>
                </a:path>
              </a:pathLst>
            </a:custGeom>
            <a:solidFill>
              <a:srgbClr val="FCFEF7"/>
            </a:solidFill>
            <a:ln w="38100" cap="sq">
              <a:solidFill>
                <a:srgbClr val="000000"/>
              </a:solidFill>
              <a:prstDash val="solid"/>
              <a:miter/>
            </a:ln>
          </p:spPr>
        </p:sp>
        <p:sp>
          <p:nvSpPr>
            <p:cNvPr name="TextBox 16" id="16"/>
            <p:cNvSpPr txBox="true"/>
            <p:nvPr/>
          </p:nvSpPr>
          <p:spPr>
            <a:xfrm>
              <a:off x="0" y="-47625"/>
              <a:ext cx="791411" cy="967728"/>
            </a:xfrm>
            <a:prstGeom prst="rect">
              <a:avLst/>
            </a:prstGeom>
          </p:spPr>
          <p:txBody>
            <a:bodyPr anchor="ctr" rtlCol="false" tIns="254000" lIns="254000" bIns="254000" rIns="254000"/>
            <a:lstStyle/>
            <a:p>
              <a:pPr algn="l">
                <a:lnSpc>
                  <a:spcPts val="4160"/>
                </a:lnSpc>
              </a:pPr>
              <a:r>
                <a:rPr lang="en-US" sz="3200">
                  <a:solidFill>
                    <a:srgbClr val="000000"/>
                  </a:solidFill>
                  <a:latin typeface="Asap"/>
                  <a:ea typeface="Asap"/>
                  <a:cs typeface="Asap"/>
                  <a:sym typeface="Asap"/>
                </a:rPr>
                <a:t>•</a:t>
              </a:r>
              <a:r>
                <a:rPr lang="en-US" sz="3200">
                  <a:solidFill>
                    <a:srgbClr val="000000"/>
                  </a:solidFill>
                  <a:latin typeface="Asap"/>
                  <a:ea typeface="Asap"/>
                  <a:cs typeface="Asap"/>
                  <a:sym typeface="Asap"/>
                </a:rPr>
                <a:t>Xây dựng quy trình kiểm thử website Fast Food Delivery</a:t>
              </a:r>
            </a:p>
            <a:p>
              <a:pPr algn="l">
                <a:lnSpc>
                  <a:spcPts val="4160"/>
                </a:lnSpc>
              </a:pPr>
              <a:r>
                <a:rPr lang="en-US" sz="3200">
                  <a:solidFill>
                    <a:srgbClr val="000000"/>
                  </a:solidFill>
                  <a:latin typeface="Asap"/>
                  <a:ea typeface="Asap"/>
                  <a:cs typeface="Asap"/>
                  <a:sym typeface="Asap"/>
                </a:rPr>
                <a:t>•Áp dụng:</a:t>
              </a:r>
            </a:p>
            <a:p>
              <a:pPr algn="l">
                <a:lnSpc>
                  <a:spcPts val="4160"/>
                </a:lnSpc>
              </a:pPr>
              <a:r>
                <a:rPr lang="en-US" sz="3200">
                  <a:solidFill>
                    <a:srgbClr val="000000"/>
                  </a:solidFill>
                  <a:latin typeface="Asap"/>
                  <a:ea typeface="Asap"/>
                  <a:cs typeface="Asap"/>
                  <a:sym typeface="Asap"/>
                </a:rPr>
                <a:t>•Agile</a:t>
              </a:r>
            </a:p>
            <a:p>
              <a:pPr algn="l">
                <a:lnSpc>
                  <a:spcPts val="4160"/>
                </a:lnSpc>
              </a:pPr>
              <a:r>
                <a:rPr lang="en-US" sz="3200">
                  <a:solidFill>
                    <a:srgbClr val="000000"/>
                  </a:solidFill>
                  <a:latin typeface="Asap"/>
                  <a:ea typeface="Asap"/>
                  <a:cs typeface="Asap"/>
                  <a:sym typeface="Asap"/>
                </a:rPr>
                <a:t>•CI/CD Pipeline</a:t>
              </a:r>
            </a:p>
            <a:p>
              <a:pPr algn="l">
                <a:lnSpc>
                  <a:spcPts val="4160"/>
                </a:lnSpc>
              </a:pPr>
              <a:r>
                <a:rPr lang="en-US" sz="3200">
                  <a:solidFill>
                    <a:srgbClr val="000000"/>
                  </a:solidFill>
                  <a:latin typeface="Asap"/>
                  <a:ea typeface="Asap"/>
                  <a:cs typeface="Asap"/>
                  <a:sym typeface="Asap"/>
                </a:rPr>
                <a:t>•Kiểm thử tự động</a:t>
              </a:r>
            </a:p>
            <a:p>
              <a:pPr algn="l">
                <a:lnSpc>
                  <a:spcPts val="4160"/>
                </a:lnSpc>
              </a:pPr>
              <a:r>
                <a:rPr lang="en-US" sz="3200">
                  <a:solidFill>
                    <a:srgbClr val="000000"/>
                  </a:solidFill>
                  <a:latin typeface="Asap"/>
                  <a:ea typeface="Asap"/>
                  <a:cs typeface="Asap"/>
                  <a:sym typeface="Asap"/>
                </a:rPr>
                <a:t>•Đảm bảo chất lượng &amp; tốc độ release</a:t>
              </a:r>
            </a:p>
            <a:p>
              <a:pPr algn="l">
                <a:lnSpc>
                  <a:spcPts val="4160"/>
                </a:lnSpc>
              </a:pPr>
            </a:p>
          </p:txBody>
        </p:sp>
      </p:grpSp>
      <p:grpSp>
        <p:nvGrpSpPr>
          <p:cNvPr name="Group 17" id="17"/>
          <p:cNvGrpSpPr/>
          <p:nvPr/>
        </p:nvGrpSpPr>
        <p:grpSpPr>
          <a:xfrm rot="0">
            <a:off x="13131040" y="4075080"/>
            <a:ext cx="4602617" cy="5787391"/>
            <a:chOff x="0" y="0"/>
            <a:chExt cx="731742" cy="920103"/>
          </a:xfrm>
        </p:grpSpPr>
        <p:sp>
          <p:nvSpPr>
            <p:cNvPr name="Freeform 18" id="18"/>
            <p:cNvSpPr/>
            <p:nvPr/>
          </p:nvSpPr>
          <p:spPr>
            <a:xfrm flipH="false" flipV="false" rot="0">
              <a:off x="0" y="0"/>
              <a:ext cx="731742" cy="920103"/>
            </a:xfrm>
            <a:custGeom>
              <a:avLst/>
              <a:gdLst/>
              <a:ahLst/>
              <a:cxnLst/>
              <a:rect r="r" b="b" t="t" l="l"/>
              <a:pathLst>
                <a:path h="920103" w="731742">
                  <a:moveTo>
                    <a:pt x="33641" y="0"/>
                  </a:moveTo>
                  <a:lnTo>
                    <a:pt x="698101" y="0"/>
                  </a:lnTo>
                  <a:cubicBezTo>
                    <a:pt x="707023" y="0"/>
                    <a:pt x="715580" y="3544"/>
                    <a:pt x="721889" y="9853"/>
                  </a:cubicBezTo>
                  <a:cubicBezTo>
                    <a:pt x="728198" y="16162"/>
                    <a:pt x="731742" y="24719"/>
                    <a:pt x="731742" y="33641"/>
                  </a:cubicBezTo>
                  <a:lnTo>
                    <a:pt x="731742" y="886461"/>
                  </a:lnTo>
                  <a:cubicBezTo>
                    <a:pt x="731742" y="895383"/>
                    <a:pt x="728198" y="903940"/>
                    <a:pt x="721889" y="910249"/>
                  </a:cubicBezTo>
                  <a:cubicBezTo>
                    <a:pt x="715580" y="916558"/>
                    <a:pt x="707023" y="920103"/>
                    <a:pt x="698101" y="920103"/>
                  </a:cubicBezTo>
                  <a:lnTo>
                    <a:pt x="33641" y="920103"/>
                  </a:lnTo>
                  <a:cubicBezTo>
                    <a:pt x="24719" y="920103"/>
                    <a:pt x="16162" y="916558"/>
                    <a:pt x="9853" y="910249"/>
                  </a:cubicBezTo>
                  <a:cubicBezTo>
                    <a:pt x="3544" y="903940"/>
                    <a:pt x="0" y="895383"/>
                    <a:pt x="0" y="886461"/>
                  </a:cubicBezTo>
                  <a:lnTo>
                    <a:pt x="0" y="33641"/>
                  </a:lnTo>
                  <a:cubicBezTo>
                    <a:pt x="0" y="24719"/>
                    <a:pt x="3544" y="16162"/>
                    <a:pt x="9853" y="9853"/>
                  </a:cubicBezTo>
                  <a:cubicBezTo>
                    <a:pt x="16162" y="3544"/>
                    <a:pt x="24719" y="0"/>
                    <a:pt x="33641" y="0"/>
                  </a:cubicBezTo>
                  <a:close/>
                </a:path>
              </a:pathLst>
            </a:custGeom>
            <a:solidFill>
              <a:srgbClr val="FCFEF7"/>
            </a:solidFill>
            <a:ln w="38100" cap="sq">
              <a:solidFill>
                <a:srgbClr val="000000"/>
              </a:solidFill>
              <a:prstDash val="solid"/>
              <a:miter/>
            </a:ln>
          </p:spPr>
        </p:sp>
        <p:sp>
          <p:nvSpPr>
            <p:cNvPr name="TextBox 19" id="19"/>
            <p:cNvSpPr txBox="true"/>
            <p:nvPr/>
          </p:nvSpPr>
          <p:spPr>
            <a:xfrm>
              <a:off x="0" y="-47625"/>
              <a:ext cx="731742" cy="967728"/>
            </a:xfrm>
            <a:prstGeom prst="rect">
              <a:avLst/>
            </a:prstGeom>
          </p:spPr>
          <p:txBody>
            <a:bodyPr anchor="ctr" rtlCol="false" tIns="254000" lIns="254000" bIns="254000" rIns="254000"/>
            <a:lstStyle/>
            <a:p>
              <a:pPr algn="l">
                <a:lnSpc>
                  <a:spcPts val="4160"/>
                </a:lnSpc>
              </a:pPr>
              <a:r>
                <a:rPr lang="en-US" sz="3200">
                  <a:solidFill>
                    <a:srgbClr val="000000"/>
                  </a:solidFill>
                  <a:latin typeface="Asap"/>
                  <a:ea typeface="Asap"/>
                  <a:cs typeface="Asap"/>
                  <a:sym typeface="Asap"/>
                </a:rPr>
                <a:t>•Quy</a:t>
              </a:r>
              <a:r>
                <a:rPr lang="en-US" sz="3200">
                  <a:solidFill>
                    <a:srgbClr val="000000"/>
                  </a:solidFill>
                  <a:latin typeface="Asap"/>
                  <a:ea typeface="Asap"/>
                  <a:cs typeface="Asap"/>
                  <a:sym typeface="Asap"/>
                </a:rPr>
                <a:t> trình kiểm thử phần mềm</a:t>
              </a:r>
            </a:p>
            <a:p>
              <a:pPr algn="l">
                <a:lnSpc>
                  <a:spcPts val="4160"/>
                </a:lnSpc>
              </a:pPr>
              <a:r>
                <a:rPr lang="en-US" sz="3200">
                  <a:solidFill>
                    <a:srgbClr val="000000"/>
                  </a:solidFill>
                  <a:latin typeface="Asap"/>
                  <a:ea typeface="Asap"/>
                  <a:cs typeface="Asap"/>
                  <a:sym typeface="Asap"/>
                </a:rPr>
                <a:t>•Kiểm thử tự động trong Agile CI/CD</a:t>
              </a:r>
            </a:p>
            <a:p>
              <a:pPr algn="l">
                <a:lnSpc>
                  <a:spcPts val="4160"/>
                </a:lnSpc>
              </a:pPr>
              <a:r>
                <a:rPr lang="en-US" sz="3200">
                  <a:solidFill>
                    <a:srgbClr val="000000"/>
                  </a:solidFill>
                  <a:latin typeface="Asap"/>
                  <a:ea typeface="Asap"/>
                  <a:cs typeface="Asap"/>
                  <a:sym typeface="Asap"/>
                </a:rPr>
                <a:t>•Không tập trung phát triển phần mềm</a:t>
              </a:r>
            </a:p>
            <a:p>
              <a:pPr algn="l">
                <a:lnSpc>
                  <a:spcPts val="4160"/>
                </a:lnSpc>
              </a:pPr>
            </a:p>
            <a:p>
              <a:pPr algn="l">
                <a:lnSpc>
                  <a:spcPts val="4160"/>
                </a:lnSpc>
              </a:pPr>
            </a:p>
            <a:p>
              <a:pPr algn="l">
                <a:lnSpc>
                  <a:spcPts val="4160"/>
                </a:lnSpc>
              </a:pPr>
            </a:p>
            <a:p>
              <a:pPr algn="l">
                <a:lnSpc>
                  <a:spcPts val="4160"/>
                </a:lnSpc>
              </a:pPr>
            </a:p>
          </p:txBody>
        </p:sp>
      </p:grpSp>
      <p:sp>
        <p:nvSpPr>
          <p:cNvPr name="TextBox 20" id="20"/>
          <p:cNvSpPr txBox="true"/>
          <p:nvPr/>
        </p:nvSpPr>
        <p:spPr>
          <a:xfrm rot="0">
            <a:off x="5627605" y="54458"/>
            <a:ext cx="8244807" cy="1007110"/>
          </a:xfrm>
          <a:prstGeom prst="rect">
            <a:avLst/>
          </a:prstGeom>
        </p:spPr>
        <p:txBody>
          <a:bodyPr anchor="t" rtlCol="false" tIns="0" lIns="0" bIns="0" rIns="0">
            <a:spAutoFit/>
          </a:bodyPr>
          <a:lstStyle/>
          <a:p>
            <a:pPr algn="l">
              <a:lnSpc>
                <a:spcPts val="8060"/>
              </a:lnSpc>
            </a:pPr>
            <a:r>
              <a:rPr lang="en-US" b="true" sz="6200">
                <a:solidFill>
                  <a:srgbClr val="000000"/>
                </a:solidFill>
                <a:latin typeface="Asap Bold"/>
                <a:ea typeface="Asap Bold"/>
                <a:cs typeface="Asap Bold"/>
                <a:sym typeface="Asap Bold"/>
              </a:rPr>
              <a:t>Tổng quan về đề tài</a:t>
            </a:r>
          </a:p>
        </p:txBody>
      </p:sp>
      <p:sp>
        <p:nvSpPr>
          <p:cNvPr name="TextBox 21" id="21"/>
          <p:cNvSpPr txBox="true"/>
          <p:nvPr/>
        </p:nvSpPr>
        <p:spPr>
          <a:xfrm rot="0">
            <a:off x="16438573" y="21590"/>
            <a:ext cx="5904379" cy="1007110"/>
          </a:xfrm>
          <a:prstGeom prst="rect">
            <a:avLst/>
          </a:prstGeom>
        </p:spPr>
        <p:txBody>
          <a:bodyPr anchor="t" rtlCol="false" tIns="0" lIns="0" bIns="0" rIns="0">
            <a:spAutoFit/>
          </a:bodyPr>
          <a:lstStyle/>
          <a:p>
            <a:pPr algn="l">
              <a:lnSpc>
                <a:spcPts val="8060"/>
              </a:lnSpc>
            </a:pPr>
            <a:r>
              <a:rPr lang="en-US" b="true" sz="6200">
                <a:solidFill>
                  <a:srgbClr val="F8CAB9">
                    <a:alpha val="0"/>
                  </a:srgbClr>
                </a:solidFill>
                <a:latin typeface="Asap Bold"/>
                <a:ea typeface="Asap Bold"/>
                <a:cs typeface="Asap Bold"/>
                <a:sym typeface="Asap Bold"/>
              </a:rPr>
              <a:t>.</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695557" y="1937095"/>
            <a:ext cx="16387106" cy="3753123"/>
            <a:chOff x="0" y="0"/>
            <a:chExt cx="2823050" cy="646560"/>
          </a:xfrm>
        </p:grpSpPr>
        <p:sp>
          <p:nvSpPr>
            <p:cNvPr name="Freeform 3" id="3"/>
            <p:cNvSpPr/>
            <p:nvPr/>
          </p:nvSpPr>
          <p:spPr>
            <a:xfrm flipH="false" flipV="false" rot="0">
              <a:off x="0" y="0"/>
              <a:ext cx="2823050" cy="646560"/>
            </a:xfrm>
            <a:custGeom>
              <a:avLst/>
              <a:gdLst/>
              <a:ahLst/>
              <a:cxnLst/>
              <a:rect r="r" b="b" t="t" l="l"/>
              <a:pathLst>
                <a:path h="646560" w="2823050">
                  <a:moveTo>
                    <a:pt x="9449" y="0"/>
                  </a:moveTo>
                  <a:lnTo>
                    <a:pt x="2813602" y="0"/>
                  </a:lnTo>
                  <a:cubicBezTo>
                    <a:pt x="2818820" y="0"/>
                    <a:pt x="2823050" y="4230"/>
                    <a:pt x="2823050" y="9449"/>
                  </a:cubicBezTo>
                  <a:lnTo>
                    <a:pt x="2823050" y="637112"/>
                  </a:lnTo>
                  <a:cubicBezTo>
                    <a:pt x="2823050" y="639618"/>
                    <a:pt x="2822055" y="642021"/>
                    <a:pt x="2820283" y="643793"/>
                  </a:cubicBezTo>
                  <a:cubicBezTo>
                    <a:pt x="2818511" y="645565"/>
                    <a:pt x="2816108" y="646560"/>
                    <a:pt x="2813602" y="646560"/>
                  </a:cubicBezTo>
                  <a:lnTo>
                    <a:pt x="9449" y="646560"/>
                  </a:lnTo>
                  <a:cubicBezTo>
                    <a:pt x="4230" y="646560"/>
                    <a:pt x="0" y="642330"/>
                    <a:pt x="0" y="637112"/>
                  </a:cubicBezTo>
                  <a:lnTo>
                    <a:pt x="0" y="9449"/>
                  </a:lnTo>
                  <a:cubicBezTo>
                    <a:pt x="0" y="4230"/>
                    <a:pt x="4230" y="0"/>
                    <a:pt x="9449"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2823050" cy="694185"/>
            </a:xfrm>
            <a:prstGeom prst="rect">
              <a:avLst/>
            </a:prstGeom>
          </p:spPr>
          <p:txBody>
            <a:bodyPr anchor="ctr" rtlCol="false" tIns="254000" lIns="254000" bIns="254000" rIns="254000"/>
            <a:lstStyle/>
            <a:p>
              <a:pPr algn="l" marL="690887" indent="-345444" lvl="1">
                <a:lnSpc>
                  <a:spcPts val="4160"/>
                </a:lnSpc>
                <a:buFont typeface="Arial"/>
                <a:buChar char="•"/>
              </a:pPr>
              <a:r>
                <a:rPr lang="en-US" b="true" sz="3200">
                  <a:solidFill>
                    <a:srgbClr val="000000"/>
                  </a:solidFill>
                  <a:latin typeface="Asap Bold"/>
                  <a:ea typeface="Asap Bold"/>
                  <a:cs typeface="Asap Bold"/>
                  <a:sym typeface="Asap Bold"/>
                </a:rPr>
                <a:t>KIỂM THỬ ĐỘNG(Dynamic Testing)</a:t>
              </a:r>
            </a:p>
            <a:p>
              <a:pPr algn="l">
                <a:lnSpc>
                  <a:spcPts val="4160"/>
                </a:lnSpc>
              </a:pPr>
              <a:r>
                <a:rPr lang="en-US" sz="3200">
                  <a:solidFill>
                    <a:srgbClr val="000000"/>
                  </a:solidFill>
                  <a:latin typeface="Asap"/>
                  <a:ea typeface="Asap"/>
                  <a:cs typeface="Asap"/>
                  <a:sym typeface="Asap"/>
                </a:rPr>
                <a:t>Là phương pháp kiểm tra phần mềm bằng cách thực thi chương trình trên máy, sử dụng các ca kiểm thử với dữ liệu đầu vào cụ thể và so sánh kết quả đầu ra với mong đợi. Kiểm thử động giúp đánh giá hành vi thực tế của hệ thống khi vận hành, bao gồm các mức kiểm thử như Unit Testing, Integration Testing, System Testing và Acceptance Testing.</a:t>
              </a:r>
            </a:p>
          </p:txBody>
        </p:sp>
      </p:grpSp>
      <p:grpSp>
        <p:nvGrpSpPr>
          <p:cNvPr name="Group 5" id="5"/>
          <p:cNvGrpSpPr/>
          <p:nvPr/>
        </p:nvGrpSpPr>
        <p:grpSpPr>
          <a:xfrm rot="0">
            <a:off x="695557" y="6128368"/>
            <a:ext cx="16387106" cy="3168016"/>
            <a:chOff x="0" y="0"/>
            <a:chExt cx="2823050" cy="545763"/>
          </a:xfrm>
        </p:grpSpPr>
        <p:sp>
          <p:nvSpPr>
            <p:cNvPr name="Freeform 6" id="6"/>
            <p:cNvSpPr/>
            <p:nvPr/>
          </p:nvSpPr>
          <p:spPr>
            <a:xfrm flipH="false" flipV="false" rot="0">
              <a:off x="0" y="0"/>
              <a:ext cx="2823050" cy="545763"/>
            </a:xfrm>
            <a:custGeom>
              <a:avLst/>
              <a:gdLst/>
              <a:ahLst/>
              <a:cxnLst/>
              <a:rect r="r" b="b" t="t" l="l"/>
              <a:pathLst>
                <a:path h="545763" w="2823050">
                  <a:moveTo>
                    <a:pt x="9449" y="0"/>
                  </a:moveTo>
                  <a:lnTo>
                    <a:pt x="2813602" y="0"/>
                  </a:lnTo>
                  <a:cubicBezTo>
                    <a:pt x="2818820" y="0"/>
                    <a:pt x="2823050" y="4230"/>
                    <a:pt x="2823050" y="9449"/>
                  </a:cubicBezTo>
                  <a:lnTo>
                    <a:pt x="2823050" y="536314"/>
                  </a:lnTo>
                  <a:cubicBezTo>
                    <a:pt x="2823050" y="541532"/>
                    <a:pt x="2818820" y="545763"/>
                    <a:pt x="2813602" y="545763"/>
                  </a:cubicBezTo>
                  <a:lnTo>
                    <a:pt x="9449" y="545763"/>
                  </a:lnTo>
                  <a:cubicBezTo>
                    <a:pt x="4230" y="545763"/>
                    <a:pt x="0" y="541532"/>
                    <a:pt x="0" y="536314"/>
                  </a:cubicBezTo>
                  <a:lnTo>
                    <a:pt x="0" y="9449"/>
                  </a:lnTo>
                  <a:cubicBezTo>
                    <a:pt x="0" y="4230"/>
                    <a:pt x="4230" y="0"/>
                    <a:pt x="9449" y="0"/>
                  </a:cubicBezTo>
                  <a:close/>
                </a:path>
              </a:pathLst>
            </a:custGeom>
            <a:solidFill>
              <a:srgbClr val="FCFEF7"/>
            </a:solidFill>
            <a:ln w="38100" cap="sq">
              <a:solidFill>
                <a:srgbClr val="000000"/>
              </a:solidFill>
              <a:prstDash val="solid"/>
              <a:miter/>
            </a:ln>
          </p:spPr>
        </p:sp>
        <p:sp>
          <p:nvSpPr>
            <p:cNvPr name="TextBox 7" id="7"/>
            <p:cNvSpPr txBox="true"/>
            <p:nvPr/>
          </p:nvSpPr>
          <p:spPr>
            <a:xfrm>
              <a:off x="0" y="-47625"/>
              <a:ext cx="2823050" cy="593388"/>
            </a:xfrm>
            <a:prstGeom prst="rect">
              <a:avLst/>
            </a:prstGeom>
          </p:spPr>
          <p:txBody>
            <a:bodyPr anchor="ctr" rtlCol="false" tIns="254000" lIns="254000" bIns="254000" rIns="254000"/>
            <a:lstStyle/>
            <a:p>
              <a:pPr algn="l" marL="690887" indent="-345444" lvl="1">
                <a:lnSpc>
                  <a:spcPts val="4160"/>
                </a:lnSpc>
                <a:buFont typeface="Arial"/>
                <a:buChar char="•"/>
              </a:pPr>
              <a:r>
                <a:rPr lang="en-US" b="true" sz="3200">
                  <a:solidFill>
                    <a:srgbClr val="000000"/>
                  </a:solidFill>
                  <a:latin typeface="Asap Bold"/>
                  <a:ea typeface="Asap Bold"/>
                  <a:cs typeface="Asap Bold"/>
                  <a:sym typeface="Asap Bold"/>
                </a:rPr>
                <a:t>KIỂM THỬ TĨNH (Static Testing)</a:t>
              </a:r>
            </a:p>
            <a:p>
              <a:pPr algn="l">
                <a:lnSpc>
                  <a:spcPts val="4160"/>
                </a:lnSpc>
              </a:pPr>
              <a:r>
                <a:rPr lang="en-US" sz="3200">
                  <a:solidFill>
                    <a:srgbClr val="000000"/>
                  </a:solidFill>
                  <a:latin typeface="Asap"/>
                  <a:ea typeface="Asap"/>
                  <a:cs typeface="Asap"/>
                  <a:sym typeface="Asap"/>
                </a:rPr>
                <a:t>Là phương pháp kiểm tra yêu cầu, thiết kế và mã nguồn không cần chạy chương trình, nhằm phát hiện sớm lỗi logic, lỗi đặc tả và lỗi cú pháp. Kiểm thử tĩnh có thể thực hiện thủ công thông qua việc đọc, rà soát tài liệu hoặc mã lệnh, và cũng có thể tự động hóa bằng các công cụ phân tích, trình biên dịch để đánh giá tính hợp lệ của chương trình.</a:t>
              </a:r>
            </a:p>
          </p:txBody>
        </p:sp>
      </p:grpSp>
      <p:sp>
        <p:nvSpPr>
          <p:cNvPr name="TextBox 8" id="8"/>
          <p:cNvSpPr txBox="true"/>
          <p:nvPr/>
        </p:nvSpPr>
        <p:spPr>
          <a:xfrm rot="0">
            <a:off x="368985" y="491807"/>
            <a:ext cx="11536465" cy="1007111"/>
          </a:xfrm>
          <a:prstGeom prst="rect">
            <a:avLst/>
          </a:prstGeom>
        </p:spPr>
        <p:txBody>
          <a:bodyPr anchor="t" rtlCol="false" tIns="0" lIns="0" bIns="0" rIns="0">
            <a:spAutoFit/>
          </a:bodyPr>
          <a:lstStyle/>
          <a:p>
            <a:pPr algn="l">
              <a:lnSpc>
                <a:spcPts val="8059"/>
              </a:lnSpc>
            </a:pPr>
            <a:r>
              <a:rPr lang="en-US" b="true" sz="6199">
                <a:solidFill>
                  <a:srgbClr val="000000"/>
                </a:solidFill>
                <a:latin typeface="Asap Bold"/>
                <a:ea typeface="Asap Bold"/>
                <a:cs typeface="Asap Bold"/>
                <a:sym typeface="Asap Bold"/>
              </a:rPr>
              <a:t>CÁC PHƯƠNG PHÁP KIỂM THỬ</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1384" y="1782865"/>
            <a:ext cx="5104215" cy="6022335"/>
            <a:chOff x="0" y="0"/>
            <a:chExt cx="914618" cy="1079134"/>
          </a:xfrm>
        </p:grpSpPr>
        <p:sp>
          <p:nvSpPr>
            <p:cNvPr name="Freeform 3" id="3"/>
            <p:cNvSpPr/>
            <p:nvPr/>
          </p:nvSpPr>
          <p:spPr>
            <a:xfrm flipH="false" flipV="false" rot="0">
              <a:off x="0" y="0"/>
              <a:ext cx="914618" cy="1079134"/>
            </a:xfrm>
            <a:custGeom>
              <a:avLst/>
              <a:gdLst/>
              <a:ahLst/>
              <a:cxnLst/>
              <a:rect r="r" b="b" t="t" l="l"/>
              <a:pathLst>
                <a:path h="1079134" w="914618">
                  <a:moveTo>
                    <a:pt x="30335" y="0"/>
                  </a:moveTo>
                  <a:lnTo>
                    <a:pt x="884282" y="0"/>
                  </a:lnTo>
                  <a:cubicBezTo>
                    <a:pt x="901036" y="0"/>
                    <a:pt x="914618" y="13582"/>
                    <a:pt x="914618" y="30335"/>
                  </a:cubicBezTo>
                  <a:lnTo>
                    <a:pt x="914618" y="1048799"/>
                  </a:lnTo>
                  <a:cubicBezTo>
                    <a:pt x="914618" y="1065553"/>
                    <a:pt x="901036" y="1079134"/>
                    <a:pt x="884282" y="1079134"/>
                  </a:cubicBezTo>
                  <a:lnTo>
                    <a:pt x="30335" y="1079134"/>
                  </a:lnTo>
                  <a:cubicBezTo>
                    <a:pt x="22290" y="1079134"/>
                    <a:pt x="14574" y="1075938"/>
                    <a:pt x="8885" y="1070249"/>
                  </a:cubicBezTo>
                  <a:cubicBezTo>
                    <a:pt x="3196" y="1064560"/>
                    <a:pt x="0" y="1056845"/>
                    <a:pt x="0" y="1048799"/>
                  </a:cubicBezTo>
                  <a:lnTo>
                    <a:pt x="0" y="30335"/>
                  </a:lnTo>
                  <a:cubicBezTo>
                    <a:pt x="0" y="13582"/>
                    <a:pt x="13582" y="0"/>
                    <a:pt x="30335" y="0"/>
                  </a:cubicBezTo>
                  <a:close/>
                </a:path>
              </a:pathLst>
            </a:custGeom>
            <a:solidFill>
              <a:srgbClr val="F8CAB9"/>
            </a:solidFill>
            <a:ln w="38100" cap="sq">
              <a:solidFill>
                <a:srgbClr val="000000"/>
              </a:solidFill>
              <a:prstDash val="solid"/>
              <a:miter/>
            </a:ln>
          </p:spPr>
        </p:sp>
        <p:sp>
          <p:nvSpPr>
            <p:cNvPr name="TextBox 4" id="4"/>
            <p:cNvSpPr txBox="true"/>
            <p:nvPr/>
          </p:nvSpPr>
          <p:spPr>
            <a:xfrm>
              <a:off x="0" y="-47625"/>
              <a:ext cx="914618" cy="1126759"/>
            </a:xfrm>
            <a:prstGeom prst="rect">
              <a:avLst/>
            </a:prstGeom>
          </p:spPr>
          <p:txBody>
            <a:bodyPr anchor="ctr" rtlCol="false" tIns="50800" lIns="50800" bIns="50800" rIns="50800"/>
            <a:lstStyle/>
            <a:p>
              <a:pPr algn="ctr">
                <a:lnSpc>
                  <a:spcPts val="4160"/>
                </a:lnSpc>
              </a:pPr>
              <a:r>
                <a:rPr lang="en-US" sz="3200">
                  <a:solidFill>
                    <a:srgbClr val="000000"/>
                  </a:solidFill>
                  <a:latin typeface="Asap"/>
                  <a:ea typeface="Asap"/>
                  <a:cs typeface="Asap"/>
                  <a:sym typeface="Asap"/>
                </a:rPr>
                <a:t>Kiểm tra chức năng dựa trên đầu vào – đầu ra, không cần biết mã nguồn.</a:t>
              </a:r>
            </a:p>
            <a:p>
              <a:pPr algn="ctr">
                <a:lnSpc>
                  <a:spcPts val="4160"/>
                </a:lnSpc>
              </a:pPr>
              <a:r>
                <a:rPr lang="en-US" sz="3200" b="true">
                  <a:solidFill>
                    <a:srgbClr val="000000"/>
                  </a:solidFill>
                  <a:latin typeface="Asap Bold"/>
                  <a:ea typeface="Asap Bold"/>
                  <a:cs typeface="Asap Bold"/>
                  <a:sym typeface="Asap Bold"/>
                </a:rPr>
                <a:t>Ưu điểm</a:t>
              </a:r>
              <a:r>
                <a:rPr lang="en-US" sz="3200">
                  <a:solidFill>
                    <a:srgbClr val="000000"/>
                  </a:solidFill>
                  <a:latin typeface="Asap"/>
                  <a:ea typeface="Asap"/>
                  <a:cs typeface="Asap"/>
                  <a:sym typeface="Asap"/>
                </a:rPr>
                <a:t>: Khách quan, dễ áp dụng.</a:t>
              </a:r>
            </a:p>
            <a:p>
              <a:pPr algn="ctr" marL="0" indent="0" lvl="1">
                <a:lnSpc>
                  <a:spcPts val="4160"/>
                </a:lnSpc>
                <a:spcBef>
                  <a:spcPct val="0"/>
                </a:spcBef>
              </a:pPr>
              <a:r>
                <a:rPr lang="en-US" b="true" sz="3200">
                  <a:solidFill>
                    <a:srgbClr val="000000"/>
                  </a:solidFill>
                  <a:latin typeface="Asap Bold"/>
                  <a:ea typeface="Asap Bold"/>
                  <a:cs typeface="Asap Bold"/>
                  <a:sym typeface="Asap Bold"/>
                </a:rPr>
                <a:t>Nhược điểm</a:t>
              </a:r>
              <a:r>
                <a:rPr lang="en-US" sz="3200">
                  <a:solidFill>
                    <a:srgbClr val="000000"/>
                  </a:solidFill>
                  <a:latin typeface="Asap"/>
                  <a:ea typeface="Asap"/>
                  <a:cs typeface="Asap"/>
                  <a:sym typeface="Asap"/>
                </a:rPr>
                <a:t>: Khó bao phủ logic bên trong, dễ bỏ sót.</a:t>
              </a:r>
            </a:p>
          </p:txBody>
        </p:sp>
      </p:grpSp>
      <p:grpSp>
        <p:nvGrpSpPr>
          <p:cNvPr name="Group 5" id="5"/>
          <p:cNvGrpSpPr/>
          <p:nvPr/>
        </p:nvGrpSpPr>
        <p:grpSpPr>
          <a:xfrm rot="0">
            <a:off x="6755178" y="1782865"/>
            <a:ext cx="5403572" cy="6022335"/>
            <a:chOff x="0" y="0"/>
            <a:chExt cx="968259" cy="1079134"/>
          </a:xfrm>
        </p:grpSpPr>
        <p:sp>
          <p:nvSpPr>
            <p:cNvPr name="Freeform 6" id="6"/>
            <p:cNvSpPr/>
            <p:nvPr/>
          </p:nvSpPr>
          <p:spPr>
            <a:xfrm flipH="false" flipV="false" rot="0">
              <a:off x="0" y="0"/>
              <a:ext cx="968259" cy="1079134"/>
            </a:xfrm>
            <a:custGeom>
              <a:avLst/>
              <a:gdLst/>
              <a:ahLst/>
              <a:cxnLst/>
              <a:rect r="r" b="b" t="t" l="l"/>
              <a:pathLst>
                <a:path h="1079134" w="968259">
                  <a:moveTo>
                    <a:pt x="28655" y="0"/>
                  </a:moveTo>
                  <a:lnTo>
                    <a:pt x="939604" y="0"/>
                  </a:lnTo>
                  <a:cubicBezTo>
                    <a:pt x="955430" y="0"/>
                    <a:pt x="968259" y="12829"/>
                    <a:pt x="968259" y="28655"/>
                  </a:cubicBezTo>
                  <a:lnTo>
                    <a:pt x="968259" y="1050480"/>
                  </a:lnTo>
                  <a:cubicBezTo>
                    <a:pt x="968259" y="1066305"/>
                    <a:pt x="955430" y="1079134"/>
                    <a:pt x="939604" y="1079134"/>
                  </a:cubicBezTo>
                  <a:lnTo>
                    <a:pt x="28655" y="1079134"/>
                  </a:lnTo>
                  <a:cubicBezTo>
                    <a:pt x="12829" y="1079134"/>
                    <a:pt x="0" y="1066305"/>
                    <a:pt x="0" y="1050480"/>
                  </a:cubicBezTo>
                  <a:lnTo>
                    <a:pt x="0" y="28655"/>
                  </a:lnTo>
                  <a:cubicBezTo>
                    <a:pt x="0" y="12829"/>
                    <a:pt x="12829" y="0"/>
                    <a:pt x="28655" y="0"/>
                  </a:cubicBezTo>
                  <a:close/>
                </a:path>
              </a:pathLst>
            </a:custGeom>
            <a:solidFill>
              <a:srgbClr val="F8CAB9"/>
            </a:solidFill>
            <a:ln w="38100" cap="sq">
              <a:solidFill>
                <a:srgbClr val="000000"/>
              </a:solidFill>
              <a:prstDash val="solid"/>
              <a:miter/>
            </a:ln>
          </p:spPr>
        </p:sp>
        <p:sp>
          <p:nvSpPr>
            <p:cNvPr name="TextBox 7" id="7"/>
            <p:cNvSpPr txBox="true"/>
            <p:nvPr/>
          </p:nvSpPr>
          <p:spPr>
            <a:xfrm>
              <a:off x="0" y="-47625"/>
              <a:ext cx="968259" cy="1126759"/>
            </a:xfrm>
            <a:prstGeom prst="rect">
              <a:avLst/>
            </a:prstGeom>
          </p:spPr>
          <p:txBody>
            <a:bodyPr anchor="ctr" rtlCol="false" tIns="50800" lIns="50800" bIns="50800" rIns="50800"/>
            <a:lstStyle/>
            <a:p>
              <a:pPr algn="ctr">
                <a:lnSpc>
                  <a:spcPts val="4160"/>
                </a:lnSpc>
              </a:pPr>
              <a:r>
                <a:rPr lang="en-US" sz="3200">
                  <a:solidFill>
                    <a:srgbClr val="000000"/>
                  </a:solidFill>
                  <a:latin typeface="Asap"/>
                  <a:ea typeface="Asap"/>
                  <a:cs typeface="Asap"/>
                  <a:sym typeface="Asap"/>
                </a:rPr>
                <a:t>Kiểm tra cấu trúc, logic và mã nguồn bên trong chương trình.</a:t>
              </a:r>
            </a:p>
            <a:p>
              <a:pPr algn="ctr">
                <a:lnSpc>
                  <a:spcPts val="4160"/>
                </a:lnSpc>
              </a:pPr>
              <a:r>
                <a:rPr lang="en-US" sz="3200">
                  <a:solidFill>
                    <a:srgbClr val="000000"/>
                  </a:solidFill>
                  <a:latin typeface="Asap"/>
                  <a:ea typeface="Asap"/>
                  <a:cs typeface="Asap"/>
                  <a:sym typeface="Asap"/>
                </a:rPr>
                <a:t>Phương pháp: API testing, Code coverage, Static testing,…</a:t>
              </a:r>
            </a:p>
            <a:p>
              <a:pPr algn="ctr">
                <a:lnSpc>
                  <a:spcPts val="4160"/>
                </a:lnSpc>
              </a:pPr>
              <a:r>
                <a:rPr lang="en-US" sz="3200" b="true">
                  <a:solidFill>
                    <a:srgbClr val="000000"/>
                  </a:solidFill>
                  <a:latin typeface="Asap Bold"/>
                  <a:ea typeface="Asap Bold"/>
                  <a:cs typeface="Asap Bold"/>
                  <a:sym typeface="Asap Bold"/>
                </a:rPr>
                <a:t>Ưu điểm</a:t>
              </a:r>
              <a:r>
                <a:rPr lang="en-US" sz="3200">
                  <a:solidFill>
                    <a:srgbClr val="000000"/>
                  </a:solidFill>
                  <a:latin typeface="Asap"/>
                  <a:ea typeface="Asap"/>
                  <a:cs typeface="Asap"/>
                  <a:sym typeface="Asap"/>
                </a:rPr>
                <a:t>: Bao phủ mã lệnh tốt, phát hiện lỗi logic.</a:t>
              </a:r>
            </a:p>
            <a:p>
              <a:pPr algn="ctr" marL="0" indent="0" lvl="1">
                <a:lnSpc>
                  <a:spcPts val="4160"/>
                </a:lnSpc>
                <a:spcBef>
                  <a:spcPct val="0"/>
                </a:spcBef>
              </a:pPr>
              <a:r>
                <a:rPr lang="en-US" b="true" sz="3200">
                  <a:solidFill>
                    <a:srgbClr val="000000"/>
                  </a:solidFill>
                  <a:latin typeface="Asap Bold"/>
                  <a:ea typeface="Asap Bold"/>
                  <a:cs typeface="Asap Bold"/>
                  <a:sym typeface="Asap Bold"/>
                </a:rPr>
                <a:t>Nhược điểm:</a:t>
              </a:r>
              <a:r>
                <a:rPr lang="en-US" sz="3200">
                  <a:solidFill>
                    <a:srgbClr val="000000"/>
                  </a:solidFill>
                  <a:latin typeface="Asap"/>
                  <a:ea typeface="Asap"/>
                  <a:cs typeface="Asap"/>
                  <a:sym typeface="Asap"/>
                </a:rPr>
                <a:t> Phụ thuộc mã nguồn, cần kiến thức lập trình.</a:t>
              </a:r>
            </a:p>
          </p:txBody>
        </p:sp>
      </p:grpSp>
      <p:sp>
        <p:nvSpPr>
          <p:cNvPr name="Freeform 8" id="8"/>
          <p:cNvSpPr/>
          <p:nvPr/>
        </p:nvSpPr>
        <p:spPr>
          <a:xfrm flipH="false" flipV="false" rot="651933">
            <a:off x="16862435" y="6242599"/>
            <a:ext cx="4437529" cy="4114800"/>
          </a:xfrm>
          <a:custGeom>
            <a:avLst/>
            <a:gdLst/>
            <a:ahLst/>
            <a:cxnLst/>
            <a:rect r="r" b="b" t="t" l="l"/>
            <a:pathLst>
              <a:path h="4114800" w="4437529">
                <a:moveTo>
                  <a:pt x="0" y="0"/>
                </a:moveTo>
                <a:lnTo>
                  <a:pt x="4437529" y="0"/>
                </a:lnTo>
                <a:lnTo>
                  <a:pt x="44375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2655687" y="1782865"/>
            <a:ext cx="5104215" cy="6022335"/>
            <a:chOff x="0" y="0"/>
            <a:chExt cx="914618" cy="1079134"/>
          </a:xfrm>
        </p:grpSpPr>
        <p:sp>
          <p:nvSpPr>
            <p:cNvPr name="Freeform 10" id="10"/>
            <p:cNvSpPr/>
            <p:nvPr/>
          </p:nvSpPr>
          <p:spPr>
            <a:xfrm flipH="false" flipV="false" rot="0">
              <a:off x="0" y="0"/>
              <a:ext cx="914618" cy="1079134"/>
            </a:xfrm>
            <a:custGeom>
              <a:avLst/>
              <a:gdLst/>
              <a:ahLst/>
              <a:cxnLst/>
              <a:rect r="r" b="b" t="t" l="l"/>
              <a:pathLst>
                <a:path h="1079134" w="914618">
                  <a:moveTo>
                    <a:pt x="30335" y="0"/>
                  </a:moveTo>
                  <a:lnTo>
                    <a:pt x="884282" y="0"/>
                  </a:lnTo>
                  <a:cubicBezTo>
                    <a:pt x="901036" y="0"/>
                    <a:pt x="914618" y="13582"/>
                    <a:pt x="914618" y="30335"/>
                  </a:cubicBezTo>
                  <a:lnTo>
                    <a:pt x="914618" y="1048799"/>
                  </a:lnTo>
                  <a:cubicBezTo>
                    <a:pt x="914618" y="1065553"/>
                    <a:pt x="901036" y="1079134"/>
                    <a:pt x="884282" y="1079134"/>
                  </a:cubicBezTo>
                  <a:lnTo>
                    <a:pt x="30335" y="1079134"/>
                  </a:lnTo>
                  <a:cubicBezTo>
                    <a:pt x="22290" y="1079134"/>
                    <a:pt x="14574" y="1075938"/>
                    <a:pt x="8885" y="1070249"/>
                  </a:cubicBezTo>
                  <a:cubicBezTo>
                    <a:pt x="3196" y="1064560"/>
                    <a:pt x="0" y="1056845"/>
                    <a:pt x="0" y="1048799"/>
                  </a:cubicBezTo>
                  <a:lnTo>
                    <a:pt x="0" y="30335"/>
                  </a:lnTo>
                  <a:cubicBezTo>
                    <a:pt x="0" y="13582"/>
                    <a:pt x="13582" y="0"/>
                    <a:pt x="30335" y="0"/>
                  </a:cubicBezTo>
                  <a:close/>
                </a:path>
              </a:pathLst>
            </a:custGeom>
            <a:solidFill>
              <a:srgbClr val="F8CAB9"/>
            </a:solidFill>
            <a:ln w="38100" cap="sq">
              <a:solidFill>
                <a:srgbClr val="000000"/>
              </a:solidFill>
              <a:prstDash val="solid"/>
              <a:miter/>
            </a:ln>
          </p:spPr>
        </p:sp>
        <p:sp>
          <p:nvSpPr>
            <p:cNvPr name="TextBox 11" id="11"/>
            <p:cNvSpPr txBox="true"/>
            <p:nvPr/>
          </p:nvSpPr>
          <p:spPr>
            <a:xfrm>
              <a:off x="0" y="-47625"/>
              <a:ext cx="914618" cy="1126759"/>
            </a:xfrm>
            <a:prstGeom prst="rect">
              <a:avLst/>
            </a:prstGeom>
          </p:spPr>
          <p:txBody>
            <a:bodyPr anchor="ctr" rtlCol="false" tIns="50800" lIns="50800" bIns="50800" rIns="50800"/>
            <a:lstStyle/>
            <a:p>
              <a:pPr algn="ctr">
                <a:lnSpc>
                  <a:spcPts val="4160"/>
                </a:lnSpc>
              </a:pPr>
              <a:r>
                <a:rPr lang="en-US" sz="3200">
                  <a:solidFill>
                    <a:srgbClr val="000000"/>
                  </a:solidFill>
                  <a:latin typeface="Asap"/>
                  <a:ea typeface="Asap"/>
                  <a:cs typeface="Asap"/>
                  <a:sym typeface="Asap"/>
                </a:rPr>
                <a:t>Kết hợp hộp đen và hộp trắng, biết một phần cấu trúc bên trong.</a:t>
              </a:r>
            </a:p>
            <a:p>
              <a:pPr algn="ctr">
                <a:lnSpc>
                  <a:spcPts val="4160"/>
                </a:lnSpc>
              </a:pPr>
              <a:r>
                <a:rPr lang="en-US" sz="3200" b="true">
                  <a:solidFill>
                    <a:srgbClr val="000000"/>
                  </a:solidFill>
                  <a:latin typeface="Asap Bold"/>
                  <a:ea typeface="Asap Bold"/>
                  <a:cs typeface="Asap Bold"/>
                  <a:sym typeface="Asap Bold"/>
                </a:rPr>
                <a:t>Ưu điểm</a:t>
              </a:r>
              <a:r>
                <a:rPr lang="en-US" sz="3200">
                  <a:solidFill>
                    <a:srgbClr val="000000"/>
                  </a:solidFill>
                  <a:latin typeface="Asap"/>
                  <a:ea typeface="Asap"/>
                  <a:cs typeface="Asap"/>
                  <a:sym typeface="Asap"/>
                </a:rPr>
                <a:t>: Hiệu quả cho kiểm thử tích hợp.</a:t>
              </a:r>
            </a:p>
            <a:p>
              <a:pPr algn="ctr" marL="0" indent="0" lvl="1">
                <a:lnSpc>
                  <a:spcPts val="4160"/>
                </a:lnSpc>
                <a:spcBef>
                  <a:spcPct val="0"/>
                </a:spcBef>
              </a:pPr>
              <a:r>
                <a:rPr lang="en-US" b="true" sz="3200">
                  <a:solidFill>
                    <a:srgbClr val="000000"/>
                  </a:solidFill>
                  <a:latin typeface="Asap Bold"/>
                  <a:ea typeface="Asap Bold"/>
                  <a:cs typeface="Asap Bold"/>
                  <a:sym typeface="Asap Bold"/>
                </a:rPr>
                <a:t>Nhược điểm</a:t>
              </a:r>
              <a:r>
                <a:rPr lang="en-US" sz="3200">
                  <a:solidFill>
                    <a:srgbClr val="000000"/>
                  </a:solidFill>
                  <a:latin typeface="Asap"/>
                  <a:ea typeface="Asap"/>
                  <a:cs typeface="Asap"/>
                  <a:sym typeface="Asap"/>
                </a:rPr>
                <a:t>: Mức bao phủ không toàn diện.</a:t>
              </a:r>
            </a:p>
          </p:txBody>
        </p:sp>
      </p:grpSp>
      <p:grpSp>
        <p:nvGrpSpPr>
          <p:cNvPr name="Group 12" id="12"/>
          <p:cNvGrpSpPr/>
          <p:nvPr/>
        </p:nvGrpSpPr>
        <p:grpSpPr>
          <a:xfrm rot="0">
            <a:off x="13371600" y="8299999"/>
            <a:ext cx="3672389" cy="1624965"/>
            <a:chOff x="0" y="0"/>
            <a:chExt cx="589064" cy="260650"/>
          </a:xfrm>
        </p:grpSpPr>
        <p:sp>
          <p:nvSpPr>
            <p:cNvPr name="Freeform 13" id="13"/>
            <p:cNvSpPr/>
            <p:nvPr/>
          </p:nvSpPr>
          <p:spPr>
            <a:xfrm flipH="false" flipV="false" rot="0">
              <a:off x="0" y="0"/>
              <a:ext cx="589064" cy="260650"/>
            </a:xfrm>
            <a:custGeom>
              <a:avLst/>
              <a:gdLst/>
              <a:ahLst/>
              <a:cxnLst/>
              <a:rect r="r" b="b" t="t" l="l"/>
              <a:pathLst>
                <a:path h="260650" w="589064">
                  <a:moveTo>
                    <a:pt x="42163" y="0"/>
                  </a:moveTo>
                  <a:lnTo>
                    <a:pt x="546901" y="0"/>
                  </a:lnTo>
                  <a:cubicBezTo>
                    <a:pt x="570187" y="0"/>
                    <a:pt x="589064" y="18877"/>
                    <a:pt x="589064" y="42163"/>
                  </a:cubicBezTo>
                  <a:lnTo>
                    <a:pt x="589064" y="218487"/>
                  </a:lnTo>
                  <a:cubicBezTo>
                    <a:pt x="589064" y="241773"/>
                    <a:pt x="570187" y="260650"/>
                    <a:pt x="546901" y="260650"/>
                  </a:cubicBezTo>
                  <a:lnTo>
                    <a:pt x="42163" y="260650"/>
                  </a:lnTo>
                  <a:cubicBezTo>
                    <a:pt x="18877" y="260650"/>
                    <a:pt x="0" y="241773"/>
                    <a:pt x="0" y="218487"/>
                  </a:cubicBezTo>
                  <a:lnTo>
                    <a:pt x="0" y="42163"/>
                  </a:lnTo>
                  <a:cubicBezTo>
                    <a:pt x="0" y="18877"/>
                    <a:pt x="18877" y="0"/>
                    <a:pt x="42163" y="0"/>
                  </a:cubicBezTo>
                  <a:close/>
                </a:path>
              </a:pathLst>
            </a:custGeom>
            <a:solidFill>
              <a:srgbClr val="F17E4C"/>
            </a:solidFill>
            <a:ln w="28575" cap="sq">
              <a:solidFill>
                <a:srgbClr val="000000"/>
              </a:solidFill>
              <a:prstDash val="solid"/>
              <a:miter/>
            </a:ln>
          </p:spPr>
        </p:sp>
        <p:sp>
          <p:nvSpPr>
            <p:cNvPr name="TextBox 14" id="14"/>
            <p:cNvSpPr txBox="true"/>
            <p:nvPr/>
          </p:nvSpPr>
          <p:spPr>
            <a:xfrm>
              <a:off x="0" y="-47625"/>
              <a:ext cx="589064" cy="308275"/>
            </a:xfrm>
            <a:prstGeom prst="rect">
              <a:avLst/>
            </a:prstGeom>
          </p:spPr>
          <p:txBody>
            <a:bodyPr anchor="ctr" rtlCol="false" tIns="50800" lIns="50800" bIns="50800" rIns="50800"/>
            <a:lstStyle/>
            <a:p>
              <a:pPr algn="ctr">
                <a:lnSpc>
                  <a:spcPts val="5460"/>
                </a:lnSpc>
              </a:pPr>
              <a:r>
                <a:rPr lang="en-US" sz="4200" b="true">
                  <a:solidFill>
                    <a:srgbClr val="FCFEF7"/>
                  </a:solidFill>
                  <a:latin typeface="Asap Bold"/>
                  <a:ea typeface="Asap Bold"/>
                  <a:cs typeface="Asap Bold"/>
                  <a:sym typeface="Asap Bold"/>
                </a:rPr>
                <a:t>Kiểm thử</a:t>
              </a:r>
              <a:r>
                <a:rPr lang="en-US" sz="4200" b="true">
                  <a:solidFill>
                    <a:srgbClr val="FCFEF7"/>
                  </a:solidFill>
                  <a:latin typeface="Asap Bold"/>
                  <a:ea typeface="Asap Bold"/>
                  <a:cs typeface="Asap Bold"/>
                  <a:sym typeface="Asap Bold"/>
                </a:rPr>
                <a:t> </a:t>
              </a:r>
            </a:p>
            <a:p>
              <a:pPr algn="ctr">
                <a:lnSpc>
                  <a:spcPts val="5460"/>
                </a:lnSpc>
                <a:spcBef>
                  <a:spcPct val="0"/>
                </a:spcBef>
              </a:pPr>
              <a:r>
                <a:rPr lang="en-US" b="true" sz="4200">
                  <a:solidFill>
                    <a:srgbClr val="FCFEF7"/>
                  </a:solidFill>
                  <a:latin typeface="Asap Bold"/>
                  <a:ea typeface="Asap Bold"/>
                  <a:cs typeface="Asap Bold"/>
                  <a:sym typeface="Asap Bold"/>
                </a:rPr>
                <a:t>Hộp xám</a:t>
              </a:r>
            </a:p>
          </p:txBody>
        </p:sp>
      </p:grpSp>
      <p:grpSp>
        <p:nvGrpSpPr>
          <p:cNvPr name="Group 15" id="15"/>
          <p:cNvGrpSpPr/>
          <p:nvPr/>
        </p:nvGrpSpPr>
        <p:grpSpPr>
          <a:xfrm rot="0">
            <a:off x="7620770" y="8299999"/>
            <a:ext cx="3672389" cy="1624965"/>
            <a:chOff x="0" y="0"/>
            <a:chExt cx="589064" cy="260650"/>
          </a:xfrm>
        </p:grpSpPr>
        <p:sp>
          <p:nvSpPr>
            <p:cNvPr name="Freeform 16" id="16"/>
            <p:cNvSpPr/>
            <p:nvPr/>
          </p:nvSpPr>
          <p:spPr>
            <a:xfrm flipH="false" flipV="false" rot="0">
              <a:off x="0" y="0"/>
              <a:ext cx="589064" cy="260650"/>
            </a:xfrm>
            <a:custGeom>
              <a:avLst/>
              <a:gdLst/>
              <a:ahLst/>
              <a:cxnLst/>
              <a:rect r="r" b="b" t="t" l="l"/>
              <a:pathLst>
                <a:path h="260650" w="589064">
                  <a:moveTo>
                    <a:pt x="42163" y="0"/>
                  </a:moveTo>
                  <a:lnTo>
                    <a:pt x="546901" y="0"/>
                  </a:lnTo>
                  <a:cubicBezTo>
                    <a:pt x="570187" y="0"/>
                    <a:pt x="589064" y="18877"/>
                    <a:pt x="589064" y="42163"/>
                  </a:cubicBezTo>
                  <a:lnTo>
                    <a:pt x="589064" y="218487"/>
                  </a:lnTo>
                  <a:cubicBezTo>
                    <a:pt x="589064" y="241773"/>
                    <a:pt x="570187" y="260650"/>
                    <a:pt x="546901" y="260650"/>
                  </a:cubicBezTo>
                  <a:lnTo>
                    <a:pt x="42163" y="260650"/>
                  </a:lnTo>
                  <a:cubicBezTo>
                    <a:pt x="18877" y="260650"/>
                    <a:pt x="0" y="241773"/>
                    <a:pt x="0" y="218487"/>
                  </a:cubicBezTo>
                  <a:lnTo>
                    <a:pt x="0" y="42163"/>
                  </a:lnTo>
                  <a:cubicBezTo>
                    <a:pt x="0" y="18877"/>
                    <a:pt x="18877" y="0"/>
                    <a:pt x="42163" y="0"/>
                  </a:cubicBezTo>
                  <a:close/>
                </a:path>
              </a:pathLst>
            </a:custGeom>
            <a:solidFill>
              <a:srgbClr val="F17E4C"/>
            </a:solidFill>
            <a:ln w="28575" cap="sq">
              <a:solidFill>
                <a:srgbClr val="000000"/>
              </a:solidFill>
              <a:prstDash val="solid"/>
              <a:miter/>
            </a:ln>
          </p:spPr>
        </p:sp>
        <p:sp>
          <p:nvSpPr>
            <p:cNvPr name="TextBox 17" id="17"/>
            <p:cNvSpPr txBox="true"/>
            <p:nvPr/>
          </p:nvSpPr>
          <p:spPr>
            <a:xfrm>
              <a:off x="0" y="-47625"/>
              <a:ext cx="589064" cy="308275"/>
            </a:xfrm>
            <a:prstGeom prst="rect">
              <a:avLst/>
            </a:prstGeom>
          </p:spPr>
          <p:txBody>
            <a:bodyPr anchor="ctr" rtlCol="false" tIns="50800" lIns="50800" bIns="50800" rIns="50800"/>
            <a:lstStyle/>
            <a:p>
              <a:pPr algn="ctr">
                <a:lnSpc>
                  <a:spcPts val="5460"/>
                </a:lnSpc>
                <a:spcBef>
                  <a:spcPct val="0"/>
                </a:spcBef>
              </a:pPr>
              <a:r>
                <a:rPr lang="en-US" b="true" sz="4200">
                  <a:solidFill>
                    <a:srgbClr val="FCFEF7"/>
                  </a:solidFill>
                  <a:latin typeface="Asap Bold"/>
                  <a:ea typeface="Asap Bold"/>
                  <a:cs typeface="Asap Bold"/>
                  <a:sym typeface="Asap Bold"/>
                </a:rPr>
                <a:t>Kiểm t</a:t>
              </a:r>
              <a:r>
                <a:rPr lang="en-US" b="true" sz="4200">
                  <a:solidFill>
                    <a:srgbClr val="FCFEF7"/>
                  </a:solidFill>
                  <a:latin typeface="Asap Bold"/>
                  <a:ea typeface="Asap Bold"/>
                  <a:cs typeface="Asap Bold"/>
                  <a:sym typeface="Asap Bold"/>
                </a:rPr>
                <a:t>hử </a:t>
              </a:r>
            </a:p>
            <a:p>
              <a:pPr algn="ctr" marL="0" indent="0" lvl="1">
                <a:lnSpc>
                  <a:spcPts val="5460"/>
                </a:lnSpc>
                <a:spcBef>
                  <a:spcPct val="0"/>
                </a:spcBef>
              </a:pPr>
              <a:r>
                <a:rPr lang="en-US" b="true" sz="4200">
                  <a:solidFill>
                    <a:srgbClr val="FCFEF7"/>
                  </a:solidFill>
                  <a:latin typeface="Asap Bold"/>
                  <a:ea typeface="Asap Bold"/>
                  <a:cs typeface="Asap Bold"/>
                  <a:sym typeface="Asap Bold"/>
                </a:rPr>
                <a:t>Hộp trắng</a:t>
              </a:r>
            </a:p>
          </p:txBody>
        </p:sp>
      </p:grpSp>
      <p:grpSp>
        <p:nvGrpSpPr>
          <p:cNvPr name="Group 18" id="18"/>
          <p:cNvGrpSpPr/>
          <p:nvPr/>
        </p:nvGrpSpPr>
        <p:grpSpPr>
          <a:xfrm rot="0">
            <a:off x="1407297" y="8299999"/>
            <a:ext cx="3672389" cy="1624965"/>
            <a:chOff x="0" y="0"/>
            <a:chExt cx="589064" cy="260650"/>
          </a:xfrm>
        </p:grpSpPr>
        <p:sp>
          <p:nvSpPr>
            <p:cNvPr name="Freeform 19" id="19"/>
            <p:cNvSpPr/>
            <p:nvPr/>
          </p:nvSpPr>
          <p:spPr>
            <a:xfrm flipH="false" flipV="false" rot="0">
              <a:off x="0" y="0"/>
              <a:ext cx="589064" cy="260650"/>
            </a:xfrm>
            <a:custGeom>
              <a:avLst/>
              <a:gdLst/>
              <a:ahLst/>
              <a:cxnLst/>
              <a:rect r="r" b="b" t="t" l="l"/>
              <a:pathLst>
                <a:path h="260650" w="589064">
                  <a:moveTo>
                    <a:pt x="42163" y="0"/>
                  </a:moveTo>
                  <a:lnTo>
                    <a:pt x="546901" y="0"/>
                  </a:lnTo>
                  <a:cubicBezTo>
                    <a:pt x="570187" y="0"/>
                    <a:pt x="589064" y="18877"/>
                    <a:pt x="589064" y="42163"/>
                  </a:cubicBezTo>
                  <a:lnTo>
                    <a:pt x="589064" y="218487"/>
                  </a:lnTo>
                  <a:cubicBezTo>
                    <a:pt x="589064" y="241773"/>
                    <a:pt x="570187" y="260650"/>
                    <a:pt x="546901" y="260650"/>
                  </a:cubicBezTo>
                  <a:lnTo>
                    <a:pt x="42163" y="260650"/>
                  </a:lnTo>
                  <a:cubicBezTo>
                    <a:pt x="18877" y="260650"/>
                    <a:pt x="0" y="241773"/>
                    <a:pt x="0" y="218487"/>
                  </a:cubicBezTo>
                  <a:lnTo>
                    <a:pt x="0" y="42163"/>
                  </a:lnTo>
                  <a:cubicBezTo>
                    <a:pt x="0" y="18877"/>
                    <a:pt x="18877" y="0"/>
                    <a:pt x="42163" y="0"/>
                  </a:cubicBezTo>
                  <a:close/>
                </a:path>
              </a:pathLst>
            </a:custGeom>
            <a:solidFill>
              <a:srgbClr val="F17E4C"/>
            </a:solidFill>
            <a:ln w="28575" cap="sq">
              <a:solidFill>
                <a:srgbClr val="000000"/>
              </a:solidFill>
              <a:prstDash val="solid"/>
              <a:miter/>
            </a:ln>
          </p:spPr>
        </p:sp>
        <p:sp>
          <p:nvSpPr>
            <p:cNvPr name="TextBox 20" id="20"/>
            <p:cNvSpPr txBox="true"/>
            <p:nvPr/>
          </p:nvSpPr>
          <p:spPr>
            <a:xfrm>
              <a:off x="0" y="-47625"/>
              <a:ext cx="589064" cy="308275"/>
            </a:xfrm>
            <a:prstGeom prst="rect">
              <a:avLst/>
            </a:prstGeom>
          </p:spPr>
          <p:txBody>
            <a:bodyPr anchor="ctr" rtlCol="false" tIns="50800" lIns="50800" bIns="50800" rIns="50800"/>
            <a:lstStyle/>
            <a:p>
              <a:pPr algn="ctr">
                <a:lnSpc>
                  <a:spcPts val="5460"/>
                </a:lnSpc>
              </a:pPr>
              <a:r>
                <a:rPr lang="en-US" sz="4200" b="true">
                  <a:solidFill>
                    <a:srgbClr val="FCFEF7"/>
                  </a:solidFill>
                  <a:latin typeface="Asap Bold"/>
                  <a:ea typeface="Asap Bold"/>
                  <a:cs typeface="Asap Bold"/>
                  <a:sym typeface="Asap Bold"/>
                </a:rPr>
                <a:t>Kiểm thử </a:t>
              </a:r>
            </a:p>
            <a:p>
              <a:pPr algn="ctr" marL="0" indent="0" lvl="1">
                <a:lnSpc>
                  <a:spcPts val="5460"/>
                </a:lnSpc>
                <a:spcBef>
                  <a:spcPct val="0"/>
                </a:spcBef>
              </a:pPr>
              <a:r>
                <a:rPr lang="en-US" b="true" sz="4200">
                  <a:solidFill>
                    <a:srgbClr val="FCFEF7"/>
                  </a:solidFill>
                  <a:latin typeface="Asap Bold"/>
                  <a:ea typeface="Asap Bold"/>
                  <a:cs typeface="Asap Bold"/>
                  <a:sym typeface="Asap Bold"/>
                </a:rPr>
                <a:t>Hộp đen</a:t>
              </a:r>
            </a:p>
          </p:txBody>
        </p:sp>
      </p:grpSp>
      <p:sp>
        <p:nvSpPr>
          <p:cNvPr name="TextBox 21" id="21"/>
          <p:cNvSpPr txBox="true"/>
          <p:nvPr/>
        </p:nvSpPr>
        <p:spPr>
          <a:xfrm rot="0">
            <a:off x="4002955" y="322818"/>
            <a:ext cx="10282089" cy="962026"/>
          </a:xfrm>
          <a:prstGeom prst="rect">
            <a:avLst/>
          </a:prstGeom>
        </p:spPr>
        <p:txBody>
          <a:bodyPr anchor="t" rtlCol="false" tIns="0" lIns="0" bIns="0" rIns="0">
            <a:spAutoFit/>
          </a:bodyPr>
          <a:lstStyle/>
          <a:p>
            <a:pPr algn="ctr" marL="0" indent="0" lvl="1">
              <a:lnSpc>
                <a:spcPts val="7799"/>
              </a:lnSpc>
              <a:spcBef>
                <a:spcPct val="0"/>
              </a:spcBef>
            </a:pPr>
            <a:r>
              <a:rPr lang="en-US" b="true" sz="5999">
                <a:solidFill>
                  <a:srgbClr val="000000"/>
                </a:solidFill>
                <a:latin typeface="Asap Bold"/>
                <a:ea typeface="Asap Bold"/>
                <a:cs typeface="Asap Bold"/>
                <a:sym typeface="Asap Bold"/>
              </a:rPr>
              <a:t>CÁC CHIẾN LƯỢC KIỂM THỬ</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194233" y="229152"/>
            <a:ext cx="11971637" cy="1599096"/>
            <a:chOff x="0" y="0"/>
            <a:chExt cx="2145182" cy="286540"/>
          </a:xfrm>
        </p:grpSpPr>
        <p:sp>
          <p:nvSpPr>
            <p:cNvPr name="Freeform 3" id="3"/>
            <p:cNvSpPr/>
            <p:nvPr/>
          </p:nvSpPr>
          <p:spPr>
            <a:xfrm flipH="false" flipV="false" rot="0">
              <a:off x="0" y="0"/>
              <a:ext cx="2145182" cy="286540"/>
            </a:xfrm>
            <a:custGeom>
              <a:avLst/>
              <a:gdLst/>
              <a:ahLst/>
              <a:cxnLst/>
              <a:rect r="r" b="b" t="t" l="l"/>
              <a:pathLst>
                <a:path h="286540" w="2145182">
                  <a:moveTo>
                    <a:pt x="12934" y="0"/>
                  </a:moveTo>
                  <a:lnTo>
                    <a:pt x="2132249" y="0"/>
                  </a:lnTo>
                  <a:cubicBezTo>
                    <a:pt x="2139392" y="0"/>
                    <a:pt x="2145182" y="5791"/>
                    <a:pt x="2145182" y="12934"/>
                  </a:cubicBezTo>
                  <a:lnTo>
                    <a:pt x="2145182" y="273606"/>
                  </a:lnTo>
                  <a:cubicBezTo>
                    <a:pt x="2145182" y="277036"/>
                    <a:pt x="2143820" y="280326"/>
                    <a:pt x="2141394" y="282752"/>
                  </a:cubicBezTo>
                  <a:cubicBezTo>
                    <a:pt x="2138968" y="285177"/>
                    <a:pt x="2135679" y="286540"/>
                    <a:pt x="2132249" y="286540"/>
                  </a:cubicBezTo>
                  <a:lnTo>
                    <a:pt x="12934" y="286540"/>
                  </a:lnTo>
                  <a:cubicBezTo>
                    <a:pt x="9504" y="286540"/>
                    <a:pt x="6214" y="285177"/>
                    <a:pt x="3788" y="282752"/>
                  </a:cubicBezTo>
                  <a:cubicBezTo>
                    <a:pt x="1363" y="280326"/>
                    <a:pt x="0" y="277036"/>
                    <a:pt x="0" y="273606"/>
                  </a:cubicBezTo>
                  <a:lnTo>
                    <a:pt x="0" y="12934"/>
                  </a:lnTo>
                  <a:cubicBezTo>
                    <a:pt x="0" y="9504"/>
                    <a:pt x="1363" y="6214"/>
                    <a:pt x="3788" y="3788"/>
                  </a:cubicBezTo>
                  <a:cubicBezTo>
                    <a:pt x="6214" y="1363"/>
                    <a:pt x="9504" y="0"/>
                    <a:pt x="12934" y="0"/>
                  </a:cubicBezTo>
                  <a:close/>
                </a:path>
              </a:pathLst>
            </a:custGeom>
            <a:solidFill>
              <a:srgbClr val="FCFEF7"/>
            </a:solidFill>
            <a:ln w="38100" cap="sq">
              <a:solidFill>
                <a:srgbClr val="000000"/>
              </a:solidFill>
              <a:prstDash val="solid"/>
              <a:miter/>
            </a:ln>
          </p:spPr>
        </p:sp>
        <p:sp>
          <p:nvSpPr>
            <p:cNvPr name="TextBox 4" id="4"/>
            <p:cNvSpPr txBox="true"/>
            <p:nvPr/>
          </p:nvSpPr>
          <p:spPr>
            <a:xfrm>
              <a:off x="0" y="-76200"/>
              <a:ext cx="2145182" cy="362740"/>
            </a:xfrm>
            <a:prstGeom prst="rect">
              <a:avLst/>
            </a:prstGeom>
          </p:spPr>
          <p:txBody>
            <a:bodyPr anchor="ctr" rtlCol="false" tIns="50800" lIns="50800" bIns="50800" rIns="50800"/>
            <a:lstStyle/>
            <a:p>
              <a:pPr algn="ctr" marL="0" indent="0" lvl="1">
                <a:lnSpc>
                  <a:spcPts val="8450"/>
                </a:lnSpc>
                <a:spcBef>
                  <a:spcPct val="0"/>
                </a:spcBef>
              </a:pPr>
              <a:r>
                <a:rPr lang="en-US" b="true" sz="6500">
                  <a:solidFill>
                    <a:srgbClr val="000000"/>
                  </a:solidFill>
                  <a:latin typeface="Asap Bold"/>
                  <a:ea typeface="Asap Bold"/>
                  <a:cs typeface="Asap Bold"/>
                  <a:sym typeface="Asap Bold"/>
                </a:rPr>
                <a:t>CÁC CẤP ĐỘ KIỂM THỬ</a:t>
              </a:r>
            </a:p>
          </p:txBody>
        </p:sp>
      </p:grpSp>
      <p:sp>
        <p:nvSpPr>
          <p:cNvPr name="Freeform 5" id="5"/>
          <p:cNvSpPr/>
          <p:nvPr/>
        </p:nvSpPr>
        <p:spPr>
          <a:xfrm flipH="false" flipV="false" rot="0">
            <a:off x="4397613" y="2033559"/>
            <a:ext cx="10104521" cy="7436690"/>
          </a:xfrm>
          <a:custGeom>
            <a:avLst/>
            <a:gdLst/>
            <a:ahLst/>
            <a:cxnLst/>
            <a:rect r="r" b="b" t="t" l="l"/>
            <a:pathLst>
              <a:path h="7436690" w="10104521">
                <a:moveTo>
                  <a:pt x="0" y="0"/>
                </a:moveTo>
                <a:lnTo>
                  <a:pt x="10104521" y="0"/>
                </a:lnTo>
                <a:lnTo>
                  <a:pt x="10104521" y="7436690"/>
                </a:lnTo>
                <a:lnTo>
                  <a:pt x="0" y="7436690"/>
                </a:lnTo>
                <a:lnTo>
                  <a:pt x="0" y="0"/>
                </a:lnTo>
                <a:close/>
              </a:path>
            </a:pathLst>
          </a:custGeom>
          <a:blipFill>
            <a:blip r:embed="rId2"/>
            <a:stretch>
              <a:fillRect l="-143" t="-814" r="-143"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138112" y="8104307"/>
            <a:ext cx="18564224" cy="6212874"/>
            <a:chOff x="0" y="0"/>
            <a:chExt cx="24752298" cy="8283832"/>
          </a:xfrm>
        </p:grpSpPr>
        <p:sp>
          <p:nvSpPr>
            <p:cNvPr name="Freeform 3" id="3"/>
            <p:cNvSpPr/>
            <p:nvPr/>
          </p:nvSpPr>
          <p:spPr>
            <a:xfrm flipH="false" flipV="false" rot="0">
              <a:off x="0" y="0"/>
              <a:ext cx="8283832" cy="8283832"/>
            </a:xfrm>
            <a:custGeom>
              <a:avLst/>
              <a:gdLst/>
              <a:ahLst/>
              <a:cxnLst/>
              <a:rect r="r" b="b" t="t" l="l"/>
              <a:pathLst>
                <a:path h="8283832" w="8283832">
                  <a:moveTo>
                    <a:pt x="0" y="0"/>
                  </a:moveTo>
                  <a:lnTo>
                    <a:pt x="8283832" y="0"/>
                  </a:lnTo>
                  <a:lnTo>
                    <a:pt x="8283832" y="8283832"/>
                  </a:lnTo>
                  <a:lnTo>
                    <a:pt x="0" y="8283832"/>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233943" y="0"/>
              <a:ext cx="8283832" cy="8283832"/>
            </a:xfrm>
            <a:custGeom>
              <a:avLst/>
              <a:gdLst/>
              <a:ahLst/>
              <a:cxnLst/>
              <a:rect r="r" b="b" t="t" l="l"/>
              <a:pathLst>
                <a:path h="8283832" w="8283832">
                  <a:moveTo>
                    <a:pt x="0" y="0"/>
                  </a:moveTo>
                  <a:lnTo>
                    <a:pt x="8283832" y="0"/>
                  </a:lnTo>
                  <a:lnTo>
                    <a:pt x="8283832" y="8283832"/>
                  </a:lnTo>
                  <a:lnTo>
                    <a:pt x="0" y="8283832"/>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468467" y="0"/>
              <a:ext cx="8283832" cy="8283832"/>
            </a:xfrm>
            <a:custGeom>
              <a:avLst/>
              <a:gdLst/>
              <a:ahLst/>
              <a:cxnLst/>
              <a:rect r="r" b="b" t="t" l="l"/>
              <a:pathLst>
                <a:path h="8283832" w="8283832">
                  <a:moveTo>
                    <a:pt x="0" y="0"/>
                  </a:moveTo>
                  <a:lnTo>
                    <a:pt x="8283831" y="0"/>
                  </a:lnTo>
                  <a:lnTo>
                    <a:pt x="8283831" y="8283832"/>
                  </a:lnTo>
                  <a:lnTo>
                    <a:pt x="0" y="8283832"/>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514350" y="538571"/>
            <a:ext cx="17259300" cy="4387215"/>
            <a:chOff x="0" y="0"/>
            <a:chExt cx="3092672" cy="786139"/>
          </a:xfrm>
        </p:grpSpPr>
        <p:sp>
          <p:nvSpPr>
            <p:cNvPr name="Freeform 7" id="7"/>
            <p:cNvSpPr/>
            <p:nvPr/>
          </p:nvSpPr>
          <p:spPr>
            <a:xfrm flipH="false" flipV="false" rot="0">
              <a:off x="0" y="0"/>
              <a:ext cx="3092672" cy="786139"/>
            </a:xfrm>
            <a:custGeom>
              <a:avLst/>
              <a:gdLst/>
              <a:ahLst/>
              <a:cxnLst/>
              <a:rect r="r" b="b" t="t" l="l"/>
              <a:pathLst>
                <a:path h="786139" w="3092672">
                  <a:moveTo>
                    <a:pt x="8971" y="0"/>
                  </a:moveTo>
                  <a:lnTo>
                    <a:pt x="3083700" y="0"/>
                  </a:lnTo>
                  <a:cubicBezTo>
                    <a:pt x="3088655" y="0"/>
                    <a:pt x="3092672" y="4017"/>
                    <a:pt x="3092672" y="8971"/>
                  </a:cubicBezTo>
                  <a:lnTo>
                    <a:pt x="3092672" y="777168"/>
                  </a:lnTo>
                  <a:cubicBezTo>
                    <a:pt x="3092672" y="782123"/>
                    <a:pt x="3088655" y="786139"/>
                    <a:pt x="3083700" y="786139"/>
                  </a:cubicBezTo>
                  <a:lnTo>
                    <a:pt x="8971" y="786139"/>
                  </a:lnTo>
                  <a:cubicBezTo>
                    <a:pt x="4017" y="786139"/>
                    <a:pt x="0" y="782123"/>
                    <a:pt x="0" y="777168"/>
                  </a:cubicBezTo>
                  <a:lnTo>
                    <a:pt x="0" y="8971"/>
                  </a:lnTo>
                  <a:cubicBezTo>
                    <a:pt x="0" y="4017"/>
                    <a:pt x="4017" y="0"/>
                    <a:pt x="8971" y="0"/>
                  </a:cubicBezTo>
                  <a:close/>
                </a:path>
              </a:pathLst>
            </a:custGeom>
            <a:solidFill>
              <a:srgbClr val="9FDFFA"/>
            </a:solidFill>
            <a:ln w="38100" cap="sq">
              <a:solidFill>
                <a:srgbClr val="000000"/>
              </a:solidFill>
              <a:prstDash val="solid"/>
              <a:miter/>
            </a:ln>
          </p:spPr>
        </p:sp>
        <p:sp>
          <p:nvSpPr>
            <p:cNvPr name="TextBox 8" id="8"/>
            <p:cNvSpPr txBox="true"/>
            <p:nvPr/>
          </p:nvSpPr>
          <p:spPr>
            <a:xfrm>
              <a:off x="0" y="-47625"/>
              <a:ext cx="3092672" cy="833764"/>
            </a:xfrm>
            <a:prstGeom prst="rect">
              <a:avLst/>
            </a:prstGeom>
          </p:spPr>
          <p:txBody>
            <a:bodyPr anchor="ctr" rtlCol="false" tIns="50800" lIns="50800" bIns="50800" rIns="50800"/>
            <a:lstStyle/>
            <a:p>
              <a:pPr algn="just">
                <a:lnSpc>
                  <a:spcPts val="5460"/>
                </a:lnSpc>
                <a:spcBef>
                  <a:spcPct val="0"/>
                </a:spcBef>
              </a:pPr>
              <a:r>
                <a:rPr lang="en-US" b="true" sz="4200">
                  <a:solidFill>
                    <a:srgbClr val="000000"/>
                  </a:solidFill>
                  <a:latin typeface="Asap Bold"/>
                  <a:ea typeface="Asap Bold"/>
                  <a:cs typeface="Asap Bold"/>
                  <a:sym typeface="Asap Bold"/>
                </a:rPr>
                <a:t>Kiểm t</a:t>
              </a:r>
              <a:r>
                <a:rPr lang="en-US" b="true" sz="4200">
                  <a:solidFill>
                    <a:srgbClr val="000000"/>
                  </a:solidFill>
                  <a:latin typeface="Asap Bold"/>
                  <a:ea typeface="Asap Bold"/>
                  <a:cs typeface="Asap Bold"/>
                  <a:sym typeface="Asap Bold"/>
                </a:rPr>
                <a:t>hử đơn vị (Unit Testing)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Kiểm tra thành phần nhỏ nhất: hàm, lớp, phương thức</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Thực hiện sớm, chủ yếu bởi lập trình viên</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Dễ phát hiện lỗi, khoanh vùng và sửa chữa nhanh</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Đảm bảo đầu vào – đầu ra và logic nội bộ của Unit chính xác</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Cần chuẩn bị test case/test script để tái sử dụng</a:t>
              </a:r>
            </a:p>
          </p:txBody>
        </p:sp>
      </p:grpSp>
      <p:grpSp>
        <p:nvGrpSpPr>
          <p:cNvPr name="Group 9" id="9"/>
          <p:cNvGrpSpPr/>
          <p:nvPr/>
        </p:nvGrpSpPr>
        <p:grpSpPr>
          <a:xfrm rot="0">
            <a:off x="514350" y="5477820"/>
            <a:ext cx="17259300" cy="4387215"/>
            <a:chOff x="0" y="0"/>
            <a:chExt cx="3092672" cy="786139"/>
          </a:xfrm>
        </p:grpSpPr>
        <p:sp>
          <p:nvSpPr>
            <p:cNvPr name="Freeform 10" id="10"/>
            <p:cNvSpPr/>
            <p:nvPr/>
          </p:nvSpPr>
          <p:spPr>
            <a:xfrm flipH="false" flipV="false" rot="0">
              <a:off x="0" y="0"/>
              <a:ext cx="3092672" cy="786139"/>
            </a:xfrm>
            <a:custGeom>
              <a:avLst/>
              <a:gdLst/>
              <a:ahLst/>
              <a:cxnLst/>
              <a:rect r="r" b="b" t="t" l="l"/>
              <a:pathLst>
                <a:path h="786139" w="3092672">
                  <a:moveTo>
                    <a:pt x="8971" y="0"/>
                  </a:moveTo>
                  <a:lnTo>
                    <a:pt x="3083700" y="0"/>
                  </a:lnTo>
                  <a:cubicBezTo>
                    <a:pt x="3088655" y="0"/>
                    <a:pt x="3092672" y="4017"/>
                    <a:pt x="3092672" y="8971"/>
                  </a:cubicBezTo>
                  <a:lnTo>
                    <a:pt x="3092672" y="777168"/>
                  </a:lnTo>
                  <a:cubicBezTo>
                    <a:pt x="3092672" y="782123"/>
                    <a:pt x="3088655" y="786139"/>
                    <a:pt x="3083700" y="786139"/>
                  </a:cubicBezTo>
                  <a:lnTo>
                    <a:pt x="8971" y="786139"/>
                  </a:lnTo>
                  <a:cubicBezTo>
                    <a:pt x="4017" y="786139"/>
                    <a:pt x="0" y="782123"/>
                    <a:pt x="0" y="777168"/>
                  </a:cubicBezTo>
                  <a:lnTo>
                    <a:pt x="0" y="8971"/>
                  </a:lnTo>
                  <a:cubicBezTo>
                    <a:pt x="0" y="4017"/>
                    <a:pt x="4017" y="0"/>
                    <a:pt x="8971" y="0"/>
                  </a:cubicBezTo>
                  <a:close/>
                </a:path>
              </a:pathLst>
            </a:custGeom>
            <a:solidFill>
              <a:srgbClr val="9FDFFA"/>
            </a:solidFill>
            <a:ln w="38100" cap="sq">
              <a:solidFill>
                <a:srgbClr val="000000"/>
              </a:solidFill>
              <a:prstDash val="solid"/>
              <a:miter/>
            </a:ln>
          </p:spPr>
        </p:sp>
        <p:sp>
          <p:nvSpPr>
            <p:cNvPr name="TextBox 11" id="11"/>
            <p:cNvSpPr txBox="true"/>
            <p:nvPr/>
          </p:nvSpPr>
          <p:spPr>
            <a:xfrm>
              <a:off x="0" y="-47625"/>
              <a:ext cx="3092672" cy="833764"/>
            </a:xfrm>
            <a:prstGeom prst="rect">
              <a:avLst/>
            </a:prstGeom>
          </p:spPr>
          <p:txBody>
            <a:bodyPr anchor="ctr" rtlCol="false" tIns="50800" lIns="50800" bIns="50800" rIns="50800"/>
            <a:lstStyle/>
            <a:p>
              <a:pPr algn="just">
                <a:lnSpc>
                  <a:spcPts val="5460"/>
                </a:lnSpc>
                <a:spcBef>
                  <a:spcPct val="0"/>
                </a:spcBef>
              </a:pPr>
              <a:r>
                <a:rPr lang="en-US" b="true" sz="4200">
                  <a:solidFill>
                    <a:srgbClr val="000000"/>
                  </a:solidFill>
                  <a:latin typeface="Asap Bold"/>
                  <a:ea typeface="Asap Bold"/>
                  <a:cs typeface="Asap Bold"/>
                  <a:sym typeface="Asap Bold"/>
                </a:rPr>
                <a:t>Kiểm t</a:t>
              </a:r>
              <a:r>
                <a:rPr lang="en-US" b="true" sz="4200">
                  <a:solidFill>
                    <a:srgbClr val="000000"/>
                  </a:solidFill>
                  <a:latin typeface="Asap Bold"/>
                  <a:ea typeface="Asap Bold"/>
                  <a:cs typeface="Asap Bold"/>
                  <a:sym typeface="Asap Bold"/>
                </a:rPr>
                <a:t>hử tích hợp (Integration Testing)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Kết hợp các Unit và kiểm tra sự giao tiếp giữa chúng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Phát hiện lỗi tương tác giữa các module</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Thực hiện sau khi Unit Test hoàn tất</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Nên tích hợp và kiểm thử dần từng Unit</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Gồm:</a:t>
              </a:r>
              <a:r>
                <a:rPr lang="en-US" sz="4200">
                  <a:solidFill>
                    <a:srgbClr val="000000"/>
                  </a:solidFill>
                  <a:latin typeface="Asap"/>
                  <a:ea typeface="Asap"/>
                  <a:cs typeface="Asap"/>
                  <a:sym typeface="Asap"/>
                </a:rPr>
                <a:t> Structure Test, Functional Test, Performance Test, Stress Test</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138112" y="8104307"/>
            <a:ext cx="18564224" cy="6212874"/>
            <a:chOff x="0" y="0"/>
            <a:chExt cx="24752298" cy="8283832"/>
          </a:xfrm>
        </p:grpSpPr>
        <p:sp>
          <p:nvSpPr>
            <p:cNvPr name="Freeform 3" id="3"/>
            <p:cNvSpPr/>
            <p:nvPr/>
          </p:nvSpPr>
          <p:spPr>
            <a:xfrm flipH="false" flipV="false" rot="0">
              <a:off x="0" y="0"/>
              <a:ext cx="8283832" cy="8283832"/>
            </a:xfrm>
            <a:custGeom>
              <a:avLst/>
              <a:gdLst/>
              <a:ahLst/>
              <a:cxnLst/>
              <a:rect r="r" b="b" t="t" l="l"/>
              <a:pathLst>
                <a:path h="8283832" w="8283832">
                  <a:moveTo>
                    <a:pt x="0" y="0"/>
                  </a:moveTo>
                  <a:lnTo>
                    <a:pt x="8283832" y="0"/>
                  </a:lnTo>
                  <a:lnTo>
                    <a:pt x="8283832" y="8283832"/>
                  </a:lnTo>
                  <a:lnTo>
                    <a:pt x="0" y="8283832"/>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233943" y="0"/>
              <a:ext cx="8283832" cy="8283832"/>
            </a:xfrm>
            <a:custGeom>
              <a:avLst/>
              <a:gdLst/>
              <a:ahLst/>
              <a:cxnLst/>
              <a:rect r="r" b="b" t="t" l="l"/>
              <a:pathLst>
                <a:path h="8283832" w="8283832">
                  <a:moveTo>
                    <a:pt x="0" y="0"/>
                  </a:moveTo>
                  <a:lnTo>
                    <a:pt x="8283832" y="0"/>
                  </a:lnTo>
                  <a:lnTo>
                    <a:pt x="8283832" y="8283832"/>
                  </a:lnTo>
                  <a:lnTo>
                    <a:pt x="0" y="8283832"/>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468467" y="0"/>
              <a:ext cx="8283832" cy="8283832"/>
            </a:xfrm>
            <a:custGeom>
              <a:avLst/>
              <a:gdLst/>
              <a:ahLst/>
              <a:cxnLst/>
              <a:rect r="r" b="b" t="t" l="l"/>
              <a:pathLst>
                <a:path h="8283832" w="8283832">
                  <a:moveTo>
                    <a:pt x="0" y="0"/>
                  </a:moveTo>
                  <a:lnTo>
                    <a:pt x="8283831" y="0"/>
                  </a:lnTo>
                  <a:lnTo>
                    <a:pt x="8283831" y="8283832"/>
                  </a:lnTo>
                  <a:lnTo>
                    <a:pt x="0" y="8283832"/>
                  </a:lnTo>
                  <a:lnTo>
                    <a:pt x="0" y="0"/>
                  </a:lnTo>
                  <a:close/>
                </a:path>
              </a:pathLst>
            </a:custGeom>
            <a:blipFill>
              <a:blip r:embed="rId2">
                <a:alphaModFix amt="60000"/>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514350" y="538571"/>
            <a:ext cx="17259300" cy="4387215"/>
            <a:chOff x="0" y="0"/>
            <a:chExt cx="3092672" cy="786139"/>
          </a:xfrm>
        </p:grpSpPr>
        <p:sp>
          <p:nvSpPr>
            <p:cNvPr name="Freeform 7" id="7"/>
            <p:cNvSpPr/>
            <p:nvPr/>
          </p:nvSpPr>
          <p:spPr>
            <a:xfrm flipH="false" flipV="false" rot="0">
              <a:off x="0" y="0"/>
              <a:ext cx="3092672" cy="786139"/>
            </a:xfrm>
            <a:custGeom>
              <a:avLst/>
              <a:gdLst/>
              <a:ahLst/>
              <a:cxnLst/>
              <a:rect r="r" b="b" t="t" l="l"/>
              <a:pathLst>
                <a:path h="786139" w="3092672">
                  <a:moveTo>
                    <a:pt x="8971" y="0"/>
                  </a:moveTo>
                  <a:lnTo>
                    <a:pt x="3083700" y="0"/>
                  </a:lnTo>
                  <a:cubicBezTo>
                    <a:pt x="3088655" y="0"/>
                    <a:pt x="3092672" y="4017"/>
                    <a:pt x="3092672" y="8971"/>
                  </a:cubicBezTo>
                  <a:lnTo>
                    <a:pt x="3092672" y="777168"/>
                  </a:lnTo>
                  <a:cubicBezTo>
                    <a:pt x="3092672" y="782123"/>
                    <a:pt x="3088655" y="786139"/>
                    <a:pt x="3083700" y="786139"/>
                  </a:cubicBezTo>
                  <a:lnTo>
                    <a:pt x="8971" y="786139"/>
                  </a:lnTo>
                  <a:cubicBezTo>
                    <a:pt x="4017" y="786139"/>
                    <a:pt x="0" y="782123"/>
                    <a:pt x="0" y="777168"/>
                  </a:cubicBezTo>
                  <a:lnTo>
                    <a:pt x="0" y="8971"/>
                  </a:lnTo>
                  <a:cubicBezTo>
                    <a:pt x="0" y="4017"/>
                    <a:pt x="4017" y="0"/>
                    <a:pt x="8971" y="0"/>
                  </a:cubicBezTo>
                  <a:close/>
                </a:path>
              </a:pathLst>
            </a:custGeom>
            <a:solidFill>
              <a:srgbClr val="9FDFFA"/>
            </a:solidFill>
            <a:ln w="38100" cap="sq">
              <a:solidFill>
                <a:srgbClr val="000000"/>
              </a:solidFill>
              <a:prstDash val="solid"/>
              <a:miter/>
            </a:ln>
          </p:spPr>
        </p:sp>
        <p:sp>
          <p:nvSpPr>
            <p:cNvPr name="TextBox 8" id="8"/>
            <p:cNvSpPr txBox="true"/>
            <p:nvPr/>
          </p:nvSpPr>
          <p:spPr>
            <a:xfrm>
              <a:off x="0" y="-47625"/>
              <a:ext cx="3092672" cy="833764"/>
            </a:xfrm>
            <a:prstGeom prst="rect">
              <a:avLst/>
            </a:prstGeom>
          </p:spPr>
          <p:txBody>
            <a:bodyPr anchor="ctr" rtlCol="false" tIns="50800" lIns="50800" bIns="50800" rIns="50800"/>
            <a:lstStyle/>
            <a:p>
              <a:pPr algn="just">
                <a:lnSpc>
                  <a:spcPts val="5460"/>
                </a:lnSpc>
                <a:spcBef>
                  <a:spcPct val="0"/>
                </a:spcBef>
              </a:pPr>
              <a:r>
                <a:rPr lang="en-US" b="true" sz="4200">
                  <a:solidFill>
                    <a:srgbClr val="000000"/>
                  </a:solidFill>
                  <a:latin typeface="Asap Bold"/>
                  <a:ea typeface="Asap Bold"/>
                  <a:cs typeface="Asap Bold"/>
                  <a:sym typeface="Asap Bold"/>
                </a:rPr>
                <a:t>Kiểm t</a:t>
              </a:r>
              <a:r>
                <a:rPr lang="en-US" b="true" sz="4200">
                  <a:solidFill>
                    <a:srgbClr val="000000"/>
                  </a:solidFill>
                  <a:latin typeface="Asap Bold"/>
                  <a:ea typeface="Asap Bold"/>
                  <a:cs typeface="Asap Bold"/>
                  <a:sym typeface="Asap Bold"/>
                </a:rPr>
                <a:t>hử hệ thống (System Testing)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Kiểm tra toàn bộ hệ thống sau khi tích hợp</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Đánh giá chức năng và các yêu cầu chất lượng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P</a:t>
              </a:r>
              <a:r>
                <a:rPr lang="en-US" sz="4200">
                  <a:solidFill>
                    <a:srgbClr val="000000"/>
                  </a:solidFill>
                  <a:latin typeface="Asap"/>
                  <a:ea typeface="Asap"/>
                  <a:cs typeface="Asap"/>
                  <a:sym typeface="Asap"/>
                </a:rPr>
                <a:t>hát hiện lỗi tổng thể, lỗi giao tiếp ngoài hệ thống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Thường do nhóm kiểm thử độc lập thực hiện</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Gồm: Functional, Performance, Stress/Load, Security, Recovery…</a:t>
              </a:r>
            </a:p>
          </p:txBody>
        </p:sp>
      </p:grpSp>
      <p:grpSp>
        <p:nvGrpSpPr>
          <p:cNvPr name="Group 9" id="9"/>
          <p:cNvGrpSpPr/>
          <p:nvPr/>
        </p:nvGrpSpPr>
        <p:grpSpPr>
          <a:xfrm rot="0">
            <a:off x="514350" y="5477820"/>
            <a:ext cx="17259300" cy="4387215"/>
            <a:chOff x="0" y="0"/>
            <a:chExt cx="3092672" cy="786139"/>
          </a:xfrm>
        </p:grpSpPr>
        <p:sp>
          <p:nvSpPr>
            <p:cNvPr name="Freeform 10" id="10"/>
            <p:cNvSpPr/>
            <p:nvPr/>
          </p:nvSpPr>
          <p:spPr>
            <a:xfrm flipH="false" flipV="false" rot="0">
              <a:off x="0" y="0"/>
              <a:ext cx="3092672" cy="786139"/>
            </a:xfrm>
            <a:custGeom>
              <a:avLst/>
              <a:gdLst/>
              <a:ahLst/>
              <a:cxnLst/>
              <a:rect r="r" b="b" t="t" l="l"/>
              <a:pathLst>
                <a:path h="786139" w="3092672">
                  <a:moveTo>
                    <a:pt x="8971" y="0"/>
                  </a:moveTo>
                  <a:lnTo>
                    <a:pt x="3083700" y="0"/>
                  </a:lnTo>
                  <a:cubicBezTo>
                    <a:pt x="3088655" y="0"/>
                    <a:pt x="3092672" y="4017"/>
                    <a:pt x="3092672" y="8971"/>
                  </a:cubicBezTo>
                  <a:lnTo>
                    <a:pt x="3092672" y="777168"/>
                  </a:lnTo>
                  <a:cubicBezTo>
                    <a:pt x="3092672" y="782123"/>
                    <a:pt x="3088655" y="786139"/>
                    <a:pt x="3083700" y="786139"/>
                  </a:cubicBezTo>
                  <a:lnTo>
                    <a:pt x="8971" y="786139"/>
                  </a:lnTo>
                  <a:cubicBezTo>
                    <a:pt x="4017" y="786139"/>
                    <a:pt x="0" y="782123"/>
                    <a:pt x="0" y="777168"/>
                  </a:cubicBezTo>
                  <a:lnTo>
                    <a:pt x="0" y="8971"/>
                  </a:lnTo>
                  <a:cubicBezTo>
                    <a:pt x="0" y="4017"/>
                    <a:pt x="4017" y="0"/>
                    <a:pt x="8971" y="0"/>
                  </a:cubicBezTo>
                  <a:close/>
                </a:path>
              </a:pathLst>
            </a:custGeom>
            <a:solidFill>
              <a:srgbClr val="9FDFFA"/>
            </a:solidFill>
            <a:ln w="38100" cap="sq">
              <a:solidFill>
                <a:srgbClr val="000000"/>
              </a:solidFill>
              <a:prstDash val="solid"/>
              <a:miter/>
            </a:ln>
          </p:spPr>
        </p:sp>
        <p:sp>
          <p:nvSpPr>
            <p:cNvPr name="TextBox 11" id="11"/>
            <p:cNvSpPr txBox="true"/>
            <p:nvPr/>
          </p:nvSpPr>
          <p:spPr>
            <a:xfrm>
              <a:off x="0" y="-47625"/>
              <a:ext cx="3092672" cy="833764"/>
            </a:xfrm>
            <a:prstGeom prst="rect">
              <a:avLst/>
            </a:prstGeom>
          </p:spPr>
          <p:txBody>
            <a:bodyPr anchor="ctr" rtlCol="false" tIns="50800" lIns="50800" bIns="50800" rIns="50800"/>
            <a:lstStyle/>
            <a:p>
              <a:pPr algn="just">
                <a:lnSpc>
                  <a:spcPts val="5460"/>
                </a:lnSpc>
                <a:spcBef>
                  <a:spcPct val="0"/>
                </a:spcBef>
              </a:pPr>
              <a:r>
                <a:rPr lang="en-US" b="true" sz="4200">
                  <a:solidFill>
                    <a:srgbClr val="000000"/>
                  </a:solidFill>
                  <a:latin typeface="Asap Bold"/>
                  <a:ea typeface="Asap Bold"/>
                  <a:cs typeface="Asap Bold"/>
                  <a:sym typeface="Asap Bold"/>
                </a:rPr>
                <a:t>Kiểm t</a:t>
              </a:r>
              <a:r>
                <a:rPr lang="en-US" b="true" sz="4200">
                  <a:solidFill>
                    <a:srgbClr val="000000"/>
                  </a:solidFill>
                  <a:latin typeface="Asap Bold"/>
                  <a:ea typeface="Asap Bold"/>
                  <a:cs typeface="Asap Bold"/>
                  <a:sym typeface="Asap Bold"/>
                </a:rPr>
                <a:t>hử chấp nhận (Acceptance Testing)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Do</a:t>
              </a:r>
              <a:r>
                <a:rPr lang="en-US" sz="4200">
                  <a:solidFill>
                    <a:srgbClr val="000000"/>
                  </a:solidFill>
                  <a:latin typeface="Asap"/>
                  <a:ea typeface="Asap"/>
                  <a:cs typeface="Asap"/>
                  <a:sym typeface="Asap"/>
                </a:rPr>
                <a:t> khách hàng hoặc bên thứ ba thực hiện</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X</a:t>
              </a:r>
              <a:r>
                <a:rPr lang="en-US" sz="4200">
                  <a:solidFill>
                    <a:srgbClr val="000000"/>
                  </a:solidFill>
                  <a:latin typeface="Asap"/>
                  <a:ea typeface="Asap"/>
                  <a:cs typeface="Asap"/>
                  <a:sym typeface="Asap"/>
                </a:rPr>
                <a:t>ác nhận phần mềm đáp ứng yêu cầu và sẵn sàng bàn giao</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Bao gồm Alpha Test và Beta Test</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Phụ</a:t>
              </a:r>
              <a:r>
                <a:rPr lang="en-US" sz="4200">
                  <a:solidFill>
                    <a:srgbClr val="000000"/>
                  </a:solidFill>
                  <a:latin typeface="Asap"/>
                  <a:ea typeface="Asap"/>
                  <a:cs typeface="Asap"/>
                  <a:sym typeface="Asap"/>
                </a:rPr>
                <a:t> thuộc nhiều vào sự tham gia và kỳ vọng của khách hàng</a:t>
              </a:r>
            </a:p>
            <a:p>
              <a:pPr algn="just" marL="906780" indent="-453390" lvl="1">
                <a:lnSpc>
                  <a:spcPts val="5460"/>
                </a:lnSpc>
                <a:spcBef>
                  <a:spcPct val="0"/>
                </a:spcBef>
                <a:buFont typeface="Arial"/>
                <a:buChar char="•"/>
              </a:pPr>
              <a:r>
                <a:rPr lang="en-US" sz="4200">
                  <a:solidFill>
                    <a:srgbClr val="000000"/>
                  </a:solidFill>
                  <a:latin typeface="Asap"/>
                  <a:ea typeface="Asap"/>
                  <a:cs typeface="Asap"/>
                  <a:sym typeface="Asap"/>
                </a:rPr>
                <a:t>Quyết định việc chấp nhận và thanh toán sản phẩm</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8CAB9"/>
        </a:solidFill>
      </p:bgPr>
    </p:bg>
    <p:spTree>
      <p:nvGrpSpPr>
        <p:cNvPr id="1" name=""/>
        <p:cNvGrpSpPr/>
        <p:nvPr/>
      </p:nvGrpSpPr>
      <p:grpSpPr>
        <a:xfrm>
          <a:off x="0" y="0"/>
          <a:ext cx="0" cy="0"/>
          <a:chOff x="0" y="0"/>
          <a:chExt cx="0" cy="0"/>
        </a:xfrm>
      </p:grpSpPr>
      <p:grpSp>
        <p:nvGrpSpPr>
          <p:cNvPr name="Group 2" id="2"/>
          <p:cNvGrpSpPr/>
          <p:nvPr/>
        </p:nvGrpSpPr>
        <p:grpSpPr>
          <a:xfrm rot="0">
            <a:off x="217714" y="259911"/>
            <a:ext cx="14216397" cy="1537579"/>
            <a:chOff x="0" y="0"/>
            <a:chExt cx="2547418" cy="275517"/>
          </a:xfrm>
        </p:grpSpPr>
        <p:sp>
          <p:nvSpPr>
            <p:cNvPr name="Freeform 3" id="3"/>
            <p:cNvSpPr/>
            <p:nvPr/>
          </p:nvSpPr>
          <p:spPr>
            <a:xfrm flipH="false" flipV="false" rot="0">
              <a:off x="0" y="0"/>
              <a:ext cx="2547418" cy="275517"/>
            </a:xfrm>
            <a:custGeom>
              <a:avLst/>
              <a:gdLst/>
              <a:ahLst/>
              <a:cxnLst/>
              <a:rect r="r" b="b" t="t" l="l"/>
              <a:pathLst>
                <a:path h="275517" w="2547418">
                  <a:moveTo>
                    <a:pt x="10892" y="0"/>
                  </a:moveTo>
                  <a:lnTo>
                    <a:pt x="2536526" y="0"/>
                  </a:lnTo>
                  <a:cubicBezTo>
                    <a:pt x="2542542" y="0"/>
                    <a:pt x="2547418" y="4876"/>
                    <a:pt x="2547418" y="10892"/>
                  </a:cubicBezTo>
                  <a:lnTo>
                    <a:pt x="2547418" y="264625"/>
                  </a:lnTo>
                  <a:cubicBezTo>
                    <a:pt x="2547418" y="270640"/>
                    <a:pt x="2542542" y="275517"/>
                    <a:pt x="2536526" y="275517"/>
                  </a:cubicBezTo>
                  <a:lnTo>
                    <a:pt x="10892" y="275517"/>
                  </a:lnTo>
                  <a:cubicBezTo>
                    <a:pt x="4876" y="275517"/>
                    <a:pt x="0" y="270640"/>
                    <a:pt x="0" y="264625"/>
                  </a:cubicBezTo>
                  <a:lnTo>
                    <a:pt x="0" y="10892"/>
                  </a:lnTo>
                  <a:cubicBezTo>
                    <a:pt x="0" y="4876"/>
                    <a:pt x="4876" y="0"/>
                    <a:pt x="10892" y="0"/>
                  </a:cubicBezTo>
                  <a:close/>
                </a:path>
              </a:pathLst>
            </a:custGeom>
            <a:solidFill>
              <a:srgbClr val="FCFEF7"/>
            </a:solidFill>
            <a:ln w="38100" cap="sq">
              <a:solidFill>
                <a:srgbClr val="000000"/>
              </a:solidFill>
              <a:prstDash val="solid"/>
              <a:miter/>
            </a:ln>
          </p:spPr>
        </p:sp>
        <p:sp>
          <p:nvSpPr>
            <p:cNvPr name="TextBox 4" id="4"/>
            <p:cNvSpPr txBox="true"/>
            <p:nvPr/>
          </p:nvSpPr>
          <p:spPr>
            <a:xfrm>
              <a:off x="0" y="19050"/>
              <a:ext cx="2547418" cy="256467"/>
            </a:xfrm>
            <a:prstGeom prst="rect">
              <a:avLst/>
            </a:prstGeom>
          </p:spPr>
          <p:txBody>
            <a:bodyPr anchor="ctr" rtlCol="false" tIns="50800" lIns="50800" bIns="50800" rIns="50800"/>
            <a:lstStyle/>
            <a:p>
              <a:pPr algn="ctr">
                <a:lnSpc>
                  <a:spcPts val="7410"/>
                </a:lnSpc>
              </a:pPr>
              <a:r>
                <a:rPr lang="en-US" sz="6500" b="true">
                  <a:solidFill>
                    <a:srgbClr val="000000"/>
                  </a:solidFill>
                  <a:latin typeface="Asap Bold"/>
                  <a:ea typeface="Asap Bold"/>
                  <a:cs typeface="Asap Bold"/>
                  <a:sym typeface="Asap Bold"/>
                </a:rPr>
                <a:t>THIẾT KẾ HỆ THỐNG VÀ KIẾN TRÚC</a:t>
              </a:r>
            </a:p>
          </p:txBody>
        </p:sp>
      </p:grpSp>
      <p:sp>
        <p:nvSpPr>
          <p:cNvPr name="TextBox 5" id="5"/>
          <p:cNvSpPr txBox="true"/>
          <p:nvPr/>
        </p:nvSpPr>
        <p:spPr>
          <a:xfrm rot="0">
            <a:off x="609932" y="2178504"/>
            <a:ext cx="17068136" cy="6670675"/>
          </a:xfrm>
          <a:prstGeom prst="rect">
            <a:avLst/>
          </a:prstGeom>
        </p:spPr>
        <p:txBody>
          <a:bodyPr anchor="t" rtlCol="false" tIns="0" lIns="0" bIns="0" rIns="0">
            <a:spAutoFit/>
          </a:bodyPr>
          <a:lstStyle/>
          <a:p>
            <a:pPr algn="just">
              <a:lnSpc>
                <a:spcPts val="4679"/>
              </a:lnSpc>
            </a:pPr>
            <a:r>
              <a:rPr lang="en-US" sz="3599" b="true">
                <a:solidFill>
                  <a:srgbClr val="000000"/>
                </a:solidFill>
                <a:latin typeface="Asap Bold"/>
                <a:ea typeface="Asap Bold"/>
                <a:cs typeface="Asap Bold"/>
                <a:sym typeface="Asap Bold"/>
              </a:rPr>
              <a:t>User Stories – Food Delivery Website</a:t>
            </a:r>
          </a:p>
          <a:p>
            <a:pPr algn="just" marL="734059" indent="-367030" lvl="1">
              <a:lnSpc>
                <a:spcPts val="4419"/>
              </a:lnSpc>
              <a:buAutoNum type="arabicPeriod" startAt="1"/>
            </a:pPr>
            <a:r>
              <a:rPr lang="en-US" sz="3399">
                <a:solidFill>
                  <a:srgbClr val="000000"/>
                </a:solidFill>
                <a:latin typeface="Asap"/>
                <a:ea typeface="Asap"/>
                <a:cs typeface="Asap"/>
                <a:sym typeface="Asap"/>
              </a:rPr>
              <a:t>User Authentication: Người dùng đăng ký tài khoản, đăng nhập/đăng xuất và quản lý hồ sơ để theo dõi, đặt lại đơn hàng dễ dàng.</a:t>
            </a:r>
          </a:p>
          <a:p>
            <a:pPr algn="just" marL="734059" indent="-367030" lvl="1">
              <a:lnSpc>
                <a:spcPts val="4419"/>
              </a:lnSpc>
              <a:buAutoNum type="arabicPeriod" startAt="1"/>
            </a:pPr>
            <a:r>
              <a:rPr lang="en-US" sz="3399">
                <a:solidFill>
                  <a:srgbClr val="000000"/>
                </a:solidFill>
                <a:latin typeface="Asap"/>
                <a:ea typeface="Asap"/>
                <a:cs typeface="Asap"/>
                <a:sym typeface="Asap"/>
              </a:rPr>
              <a:t>Ordering &amp; Cart: Khách hàng duyệt menu theo hình ảnh, danh mục, giá; thêm, cập nhật hoặc xóa món trong giỏ và xem chi tiết chi phí trước khi thanh toán.</a:t>
            </a:r>
          </a:p>
          <a:p>
            <a:pPr algn="just" marL="734059" indent="-367030" lvl="1">
              <a:lnSpc>
                <a:spcPts val="4419"/>
              </a:lnSpc>
              <a:buAutoNum type="arabicPeriod" startAt="1"/>
            </a:pPr>
            <a:r>
              <a:rPr lang="en-US" sz="3399">
                <a:solidFill>
                  <a:srgbClr val="000000"/>
                </a:solidFill>
                <a:latin typeface="Asap"/>
                <a:ea typeface="Asap"/>
                <a:cs typeface="Asap"/>
                <a:sym typeface="Asap"/>
              </a:rPr>
              <a:t>Payment &amp; Checkout: Thanh toán trực tuyến an toàn qua Stripe, nhận xác nhận thanh toán và thông tin đơn hàng.</a:t>
            </a:r>
          </a:p>
          <a:p>
            <a:pPr algn="just" marL="734059" indent="-367030" lvl="1">
              <a:lnSpc>
                <a:spcPts val="4419"/>
              </a:lnSpc>
              <a:buAutoNum type="arabicPeriod" startAt="1"/>
            </a:pPr>
            <a:r>
              <a:rPr lang="en-US" sz="3399">
                <a:solidFill>
                  <a:srgbClr val="000000"/>
                </a:solidFill>
                <a:latin typeface="Asap"/>
                <a:ea typeface="Asap"/>
                <a:cs typeface="Asap"/>
                <a:sym typeface="Asap"/>
              </a:rPr>
              <a:t>Delivery Tracking: Khách hàng theo dõi trạng thái đơn hàng theo thời gian thực; nhân viên giao hàng cập nhật tiến trình giao.</a:t>
            </a:r>
          </a:p>
          <a:p>
            <a:pPr algn="just" marL="734059" indent="-367030" lvl="1">
              <a:lnSpc>
                <a:spcPts val="4419"/>
              </a:lnSpc>
              <a:buAutoNum type="arabicPeriod" startAt="1"/>
            </a:pPr>
            <a:r>
              <a:rPr lang="en-US" sz="3399">
                <a:solidFill>
                  <a:srgbClr val="000000"/>
                </a:solidFill>
                <a:latin typeface="Asap"/>
                <a:ea typeface="Asap"/>
                <a:cs typeface="Asap"/>
                <a:sym typeface="Asap"/>
              </a:rPr>
              <a:t>Admin Management: Quản lý menu, đơn hàng và người dùng nhằm đảm bảo hệ thống hoạt động ổn định và an toàn.</a:t>
            </a:r>
          </a:p>
          <a:p>
            <a:pPr algn="just">
              <a:lnSpc>
                <a:spcPts val="4419"/>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9E4"/>
        </a:solidFill>
      </p:bgPr>
    </p:bg>
    <p:spTree>
      <p:nvGrpSpPr>
        <p:cNvPr id="1" name=""/>
        <p:cNvGrpSpPr/>
        <p:nvPr/>
      </p:nvGrpSpPr>
      <p:grpSpPr>
        <a:xfrm>
          <a:off x="0" y="0"/>
          <a:ext cx="0" cy="0"/>
          <a:chOff x="0" y="0"/>
          <a:chExt cx="0" cy="0"/>
        </a:xfrm>
      </p:grpSpPr>
      <p:sp>
        <p:nvSpPr>
          <p:cNvPr name="Freeform 2" id="2"/>
          <p:cNvSpPr/>
          <p:nvPr/>
        </p:nvSpPr>
        <p:spPr>
          <a:xfrm flipH="false" flipV="false" rot="0">
            <a:off x="3146356" y="1028700"/>
            <a:ext cx="11995287" cy="9073358"/>
          </a:xfrm>
          <a:custGeom>
            <a:avLst/>
            <a:gdLst/>
            <a:ahLst/>
            <a:cxnLst/>
            <a:rect r="r" b="b" t="t" l="l"/>
            <a:pathLst>
              <a:path h="9073358" w="11995287">
                <a:moveTo>
                  <a:pt x="0" y="0"/>
                </a:moveTo>
                <a:lnTo>
                  <a:pt x="11995288" y="0"/>
                </a:lnTo>
                <a:lnTo>
                  <a:pt x="11995288" y="9073358"/>
                </a:lnTo>
                <a:lnTo>
                  <a:pt x="0" y="9073358"/>
                </a:lnTo>
                <a:lnTo>
                  <a:pt x="0" y="0"/>
                </a:lnTo>
                <a:close/>
              </a:path>
            </a:pathLst>
          </a:custGeom>
          <a:blipFill>
            <a:blip r:embed="rId2"/>
            <a:stretch>
              <a:fillRect l="0" t="0" r="0" b="0"/>
            </a:stretch>
          </a:blipFill>
        </p:spPr>
      </p:sp>
      <p:sp>
        <p:nvSpPr>
          <p:cNvPr name="TextBox 3" id="3"/>
          <p:cNvSpPr txBox="true"/>
          <p:nvPr/>
        </p:nvSpPr>
        <p:spPr>
          <a:xfrm rot="0">
            <a:off x="288675" y="289560"/>
            <a:ext cx="6716078" cy="963930"/>
          </a:xfrm>
          <a:prstGeom prst="rect">
            <a:avLst/>
          </a:prstGeom>
        </p:spPr>
        <p:txBody>
          <a:bodyPr anchor="t" rtlCol="false" tIns="0" lIns="0" bIns="0" rIns="0">
            <a:spAutoFit/>
          </a:bodyPr>
          <a:lstStyle/>
          <a:p>
            <a:pPr algn="ctr">
              <a:lnSpc>
                <a:spcPts val="7410"/>
              </a:lnSpc>
              <a:spcBef>
                <a:spcPct val="0"/>
              </a:spcBef>
            </a:pPr>
            <a:r>
              <a:rPr lang="en-US" b="true" sz="6500">
                <a:solidFill>
                  <a:srgbClr val="000000"/>
                </a:solidFill>
                <a:latin typeface="Asap Bold"/>
                <a:ea typeface="Asap Bold"/>
                <a:cs typeface="Asap Bold"/>
                <a:sym typeface="Asap Bold"/>
              </a:rPr>
              <a:t>Conceptual Model</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138112" y="8104307"/>
            <a:ext cx="18564224" cy="6212874"/>
            <a:chOff x="0" y="0"/>
            <a:chExt cx="24752298" cy="8283832"/>
          </a:xfrm>
        </p:grpSpPr>
        <p:sp>
          <p:nvSpPr>
            <p:cNvPr name="Freeform 3" id="3"/>
            <p:cNvSpPr/>
            <p:nvPr/>
          </p:nvSpPr>
          <p:spPr>
            <a:xfrm flipH="false" flipV="false" rot="0">
              <a:off x="0" y="0"/>
              <a:ext cx="8283832" cy="8283832"/>
            </a:xfrm>
            <a:custGeom>
              <a:avLst/>
              <a:gdLst/>
              <a:ahLst/>
              <a:cxnLst/>
              <a:rect r="r" b="b" t="t" l="l"/>
              <a:pathLst>
                <a:path h="8283832" w="8283832">
                  <a:moveTo>
                    <a:pt x="0" y="0"/>
                  </a:moveTo>
                  <a:lnTo>
                    <a:pt x="8283832" y="0"/>
                  </a:lnTo>
                  <a:lnTo>
                    <a:pt x="8283832" y="8283832"/>
                  </a:lnTo>
                  <a:lnTo>
                    <a:pt x="0" y="828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233943" y="0"/>
              <a:ext cx="8283832" cy="8283832"/>
            </a:xfrm>
            <a:custGeom>
              <a:avLst/>
              <a:gdLst/>
              <a:ahLst/>
              <a:cxnLst/>
              <a:rect r="r" b="b" t="t" l="l"/>
              <a:pathLst>
                <a:path h="8283832" w="8283832">
                  <a:moveTo>
                    <a:pt x="0" y="0"/>
                  </a:moveTo>
                  <a:lnTo>
                    <a:pt x="8283832" y="0"/>
                  </a:lnTo>
                  <a:lnTo>
                    <a:pt x="8283832" y="8283832"/>
                  </a:lnTo>
                  <a:lnTo>
                    <a:pt x="0" y="828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468467" y="0"/>
              <a:ext cx="8283832" cy="8283832"/>
            </a:xfrm>
            <a:custGeom>
              <a:avLst/>
              <a:gdLst/>
              <a:ahLst/>
              <a:cxnLst/>
              <a:rect r="r" b="b" t="t" l="l"/>
              <a:pathLst>
                <a:path h="8283832" w="8283832">
                  <a:moveTo>
                    <a:pt x="0" y="0"/>
                  </a:moveTo>
                  <a:lnTo>
                    <a:pt x="8283831" y="0"/>
                  </a:lnTo>
                  <a:lnTo>
                    <a:pt x="8283831" y="8283832"/>
                  </a:lnTo>
                  <a:lnTo>
                    <a:pt x="0" y="828383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003908" y="702469"/>
            <a:ext cx="16255392" cy="8882062"/>
            <a:chOff x="0" y="0"/>
            <a:chExt cx="2584347" cy="1412106"/>
          </a:xfrm>
        </p:grpSpPr>
        <p:sp>
          <p:nvSpPr>
            <p:cNvPr name="Freeform 7" id="7"/>
            <p:cNvSpPr/>
            <p:nvPr/>
          </p:nvSpPr>
          <p:spPr>
            <a:xfrm flipH="false" flipV="false" rot="0">
              <a:off x="0" y="0"/>
              <a:ext cx="2584347" cy="1412106"/>
            </a:xfrm>
            <a:custGeom>
              <a:avLst/>
              <a:gdLst/>
              <a:ahLst/>
              <a:cxnLst/>
              <a:rect r="r" b="b" t="t" l="l"/>
              <a:pathLst>
                <a:path h="1412106" w="2584347">
                  <a:moveTo>
                    <a:pt x="9525" y="0"/>
                  </a:moveTo>
                  <a:lnTo>
                    <a:pt x="2574822" y="0"/>
                  </a:lnTo>
                  <a:cubicBezTo>
                    <a:pt x="2580083" y="0"/>
                    <a:pt x="2584347" y="4265"/>
                    <a:pt x="2584347" y="9525"/>
                  </a:cubicBezTo>
                  <a:lnTo>
                    <a:pt x="2584347" y="1402580"/>
                  </a:lnTo>
                  <a:cubicBezTo>
                    <a:pt x="2584347" y="1405107"/>
                    <a:pt x="2583344" y="1407529"/>
                    <a:pt x="2581557" y="1409316"/>
                  </a:cubicBezTo>
                  <a:cubicBezTo>
                    <a:pt x="2579771" y="1411102"/>
                    <a:pt x="2577348" y="1412106"/>
                    <a:pt x="2574822" y="1412106"/>
                  </a:cubicBezTo>
                  <a:lnTo>
                    <a:pt x="9525" y="1412106"/>
                  </a:lnTo>
                  <a:cubicBezTo>
                    <a:pt x="4265" y="1412106"/>
                    <a:pt x="0" y="1407841"/>
                    <a:pt x="0" y="1402580"/>
                  </a:cubicBezTo>
                  <a:lnTo>
                    <a:pt x="0" y="9525"/>
                  </a:lnTo>
                  <a:cubicBezTo>
                    <a:pt x="0" y="4265"/>
                    <a:pt x="4265" y="0"/>
                    <a:pt x="9525" y="0"/>
                  </a:cubicBezTo>
                  <a:close/>
                </a:path>
              </a:pathLst>
            </a:custGeom>
            <a:solidFill>
              <a:srgbClr val="FCFEF7"/>
            </a:solidFill>
            <a:ln w="38100" cap="sq">
              <a:solidFill>
                <a:srgbClr val="000000"/>
              </a:solidFill>
              <a:prstDash val="solid"/>
              <a:miter/>
            </a:ln>
          </p:spPr>
        </p:sp>
        <p:sp>
          <p:nvSpPr>
            <p:cNvPr name="TextBox 8" id="8"/>
            <p:cNvSpPr txBox="true"/>
            <p:nvPr/>
          </p:nvSpPr>
          <p:spPr>
            <a:xfrm>
              <a:off x="0" y="-47625"/>
              <a:ext cx="2584347" cy="1459731"/>
            </a:xfrm>
            <a:prstGeom prst="rect">
              <a:avLst/>
            </a:prstGeom>
          </p:spPr>
          <p:txBody>
            <a:bodyPr anchor="ctr" rtlCol="false" tIns="254000" lIns="254000" bIns="254000" rIns="254000"/>
            <a:lstStyle/>
            <a:p>
              <a:pPr algn="l">
                <a:lnSpc>
                  <a:spcPts val="4679"/>
                </a:lnSpc>
              </a:pPr>
              <a:r>
                <a:rPr lang="en-US" sz="3599" b="true">
                  <a:solidFill>
                    <a:srgbClr val="000000"/>
                  </a:solidFill>
                  <a:latin typeface="Asap Bold"/>
                  <a:ea typeface="Asap Bold"/>
                  <a:cs typeface="Asap Bold"/>
                  <a:sym typeface="Asap Bold"/>
                </a:rPr>
                <a:t>Mô tả các thành phần hệ thống Food Delivery</a:t>
              </a:r>
            </a:p>
            <a:p>
              <a:pPr algn="l">
                <a:lnSpc>
                  <a:spcPts val="4419"/>
                </a:lnSpc>
              </a:pPr>
              <a:r>
                <a:rPr lang="en-US" sz="3399">
                  <a:solidFill>
                    <a:srgbClr val="000000"/>
                  </a:solidFill>
                  <a:latin typeface="Asap"/>
                  <a:ea typeface="Asap"/>
                  <a:cs typeface="Asap"/>
                  <a:sym typeface="Asap"/>
                </a:rPr>
                <a:t>a) Fo</a:t>
              </a:r>
              <a:r>
                <a:rPr lang="en-US" sz="3399">
                  <a:solidFill>
                    <a:srgbClr val="000000"/>
                  </a:solidFill>
                  <a:latin typeface="Asap"/>
                  <a:ea typeface="Asap"/>
                  <a:cs typeface="Asap"/>
                  <a:sym typeface="Asap"/>
                </a:rPr>
                <a:t>od System: Quản lý thông tin món ăn. SysAdmin thực hiện CRUD món ăn và gán tồn kho; Customer có thể lọc và xem danh sách món.</a:t>
              </a:r>
            </a:p>
            <a:p>
              <a:pPr algn="l">
                <a:lnSpc>
                  <a:spcPts val="4419"/>
                </a:lnSpc>
              </a:pPr>
              <a:r>
                <a:rPr lang="en-US" sz="3399">
                  <a:solidFill>
                    <a:srgbClr val="000000"/>
                  </a:solidFill>
                  <a:latin typeface="Asap"/>
                  <a:ea typeface="Asap"/>
                  <a:cs typeface="Asap"/>
                  <a:sym typeface="Asap"/>
                </a:rPr>
                <a:t>b) Cart &amp; OrderItem: Customer sở hữu 1 Cart, Cart chứa nhiều OrderItem đại diện cho các món được thêm vào giỏ.</a:t>
              </a:r>
            </a:p>
            <a:p>
              <a:pPr algn="l">
                <a:lnSpc>
                  <a:spcPts val="4419"/>
                </a:lnSpc>
              </a:pPr>
              <a:r>
                <a:rPr lang="en-US" sz="3399">
                  <a:solidFill>
                    <a:srgbClr val="000000"/>
                  </a:solidFill>
                  <a:latin typeface="Asap"/>
                  <a:ea typeface="Asap"/>
                  <a:cs typeface="Asap"/>
                  <a:sym typeface="Asap"/>
                </a:rPr>
                <a:t>c) User &amp; Role: User là người dùng hệ thống (Customer hoặc Admin); mỗi User có thể có một hoặc nhiều Role để phân quyền.</a:t>
              </a:r>
            </a:p>
            <a:p>
              <a:pPr algn="l">
                <a:lnSpc>
                  <a:spcPts val="4419"/>
                </a:lnSpc>
              </a:pPr>
              <a:r>
                <a:rPr lang="en-US" sz="3399">
                  <a:solidFill>
                    <a:srgbClr val="000000"/>
                  </a:solidFill>
                  <a:latin typeface="Asap"/>
                  <a:ea typeface="Asap"/>
                  <a:cs typeface="Asap"/>
                  <a:sym typeface="Asap"/>
                </a:rPr>
                <a:t>d) Order: Customer có thể tạo nhiều Order; mỗi Order chỉ thuộc về một Customer (quan hệ 1–n).</a:t>
              </a:r>
            </a:p>
            <a:p>
              <a:pPr algn="l">
                <a:lnSpc>
                  <a:spcPts val="4419"/>
                </a:lnSpc>
              </a:pPr>
              <a:r>
                <a:rPr lang="en-US" sz="3399">
                  <a:solidFill>
                    <a:srgbClr val="000000"/>
                  </a:solidFill>
                  <a:latin typeface="Asap"/>
                  <a:ea typeface="Asap"/>
                  <a:cs typeface="Asap"/>
                  <a:sym typeface="Asap"/>
                </a:rPr>
                <a:t>e) Payment: Customer thanh toán qua Stripe; Payment liên kết với PaymentStatus và Cart Info; một Customer có thể có nhiều lần thanh toán.</a:t>
              </a:r>
            </a:p>
            <a:p>
              <a:pPr algn="l">
                <a:lnSpc>
                  <a:spcPts val="4419"/>
                </a:lnSpc>
              </a:pPr>
              <a:r>
                <a:rPr lang="en-US" sz="3399">
                  <a:solidFill>
                    <a:srgbClr val="000000"/>
                  </a:solidFill>
                  <a:latin typeface="Asap"/>
                  <a:ea typeface="Asap"/>
                  <a:cs typeface="Asap"/>
                  <a:sym typeface="Asap"/>
                </a:rPr>
                <a:t>f) Delivery: Theo dõi quá trình giao hàng; Customer theo dõi trạng thái, SysAdmin cập nhật. DeliveryStatus gồm: Food Processing, Out for Delivery, Delivered, Unlocked.</a:t>
              </a:r>
            </a:p>
            <a:p>
              <a:pPr algn="l">
                <a:lnSpc>
                  <a:spcPts val="4419"/>
                </a:lnSpc>
              </a:pPr>
            </a:p>
          </p:txBody>
        </p:sp>
      </p:grpSp>
      <p:sp>
        <p:nvSpPr>
          <p:cNvPr name="TextBox 9" id="9"/>
          <p:cNvSpPr txBox="true"/>
          <p:nvPr/>
        </p:nvSpPr>
        <p:spPr>
          <a:xfrm rot="0">
            <a:off x="16438573" y="40640"/>
            <a:ext cx="5904379" cy="556895"/>
          </a:xfrm>
          <a:prstGeom prst="rect">
            <a:avLst/>
          </a:prstGeom>
        </p:spPr>
        <p:txBody>
          <a:bodyPr anchor="t" rtlCol="false" tIns="0" lIns="0" bIns="0" rIns="0">
            <a:spAutoFit/>
          </a:bodyPr>
          <a:lstStyle/>
          <a:p>
            <a:pPr algn="l">
              <a:lnSpc>
                <a:spcPts val="4419"/>
              </a:lnSpc>
            </a:pPr>
            <a:r>
              <a:rPr lang="en-US" b="true" sz="3399">
                <a:solidFill>
                  <a:srgbClr val="F8CAB9">
                    <a:alpha val="0"/>
                  </a:srgbClr>
                </a:solidFill>
                <a:latin typeface="Asap Bold"/>
                <a:ea typeface="Asap Bold"/>
                <a:cs typeface="Asap Bold"/>
                <a:sym typeface="Asap Bold"/>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12382564" y="3510438"/>
            <a:ext cx="5555821" cy="3809048"/>
            <a:chOff x="0" y="0"/>
            <a:chExt cx="957116" cy="656195"/>
          </a:xfrm>
        </p:grpSpPr>
        <p:sp>
          <p:nvSpPr>
            <p:cNvPr name="Freeform 3" id="3"/>
            <p:cNvSpPr/>
            <p:nvPr/>
          </p:nvSpPr>
          <p:spPr>
            <a:xfrm flipH="false" flipV="false" rot="0">
              <a:off x="0" y="0"/>
              <a:ext cx="957116" cy="656195"/>
            </a:xfrm>
            <a:custGeom>
              <a:avLst/>
              <a:gdLst/>
              <a:ahLst/>
              <a:cxnLst/>
              <a:rect r="r" b="b" t="t" l="l"/>
              <a:pathLst>
                <a:path h="656195" w="957116">
                  <a:moveTo>
                    <a:pt x="27870" y="0"/>
                  </a:moveTo>
                  <a:lnTo>
                    <a:pt x="929246" y="0"/>
                  </a:lnTo>
                  <a:cubicBezTo>
                    <a:pt x="936638" y="0"/>
                    <a:pt x="943727" y="2936"/>
                    <a:pt x="948953" y="8163"/>
                  </a:cubicBezTo>
                  <a:cubicBezTo>
                    <a:pt x="954180" y="13389"/>
                    <a:pt x="957116" y="20478"/>
                    <a:pt x="957116" y="27870"/>
                  </a:cubicBezTo>
                  <a:lnTo>
                    <a:pt x="957116" y="628325"/>
                  </a:lnTo>
                  <a:cubicBezTo>
                    <a:pt x="957116" y="635717"/>
                    <a:pt x="954180" y="642806"/>
                    <a:pt x="948953" y="648032"/>
                  </a:cubicBezTo>
                  <a:cubicBezTo>
                    <a:pt x="943727" y="653259"/>
                    <a:pt x="936638" y="656195"/>
                    <a:pt x="929246" y="656195"/>
                  </a:cubicBezTo>
                  <a:lnTo>
                    <a:pt x="27870" y="656195"/>
                  </a:lnTo>
                  <a:cubicBezTo>
                    <a:pt x="20478" y="656195"/>
                    <a:pt x="13389" y="653259"/>
                    <a:pt x="8163" y="648032"/>
                  </a:cubicBezTo>
                  <a:cubicBezTo>
                    <a:pt x="2936" y="642806"/>
                    <a:pt x="0" y="635717"/>
                    <a:pt x="0" y="628325"/>
                  </a:cubicBezTo>
                  <a:lnTo>
                    <a:pt x="0" y="27870"/>
                  </a:lnTo>
                  <a:cubicBezTo>
                    <a:pt x="0" y="20478"/>
                    <a:pt x="2936" y="13389"/>
                    <a:pt x="8163" y="8163"/>
                  </a:cubicBezTo>
                  <a:cubicBezTo>
                    <a:pt x="13389" y="2936"/>
                    <a:pt x="20478" y="0"/>
                    <a:pt x="27870"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957116" cy="703820"/>
            </a:xfrm>
            <a:prstGeom prst="rect">
              <a:avLst/>
            </a:prstGeom>
          </p:spPr>
          <p:txBody>
            <a:bodyPr anchor="ctr" rtlCol="false" tIns="254000" lIns="254000" bIns="254000" rIns="254000"/>
            <a:lstStyle/>
            <a:p>
              <a:pPr algn="just">
                <a:lnSpc>
                  <a:spcPts val="4290"/>
                </a:lnSpc>
              </a:pPr>
              <a:r>
                <a:rPr lang="en-US" sz="3300">
                  <a:solidFill>
                    <a:srgbClr val="000000"/>
                  </a:solidFill>
                  <a:latin typeface="Asap"/>
                  <a:ea typeface="Asap"/>
                  <a:cs typeface="Asap"/>
                  <a:sym typeface="Asap"/>
                </a:rPr>
                <a:t>ERD :</a:t>
              </a:r>
            </a:p>
            <a:p>
              <a:pPr algn="just">
                <a:lnSpc>
                  <a:spcPts val="4290"/>
                </a:lnSpc>
              </a:pPr>
              <a:r>
                <a:rPr lang="en-US" sz="3300">
                  <a:solidFill>
                    <a:srgbClr val="000000"/>
                  </a:solidFill>
                  <a:latin typeface="Asap"/>
                  <a:ea typeface="Asap"/>
                  <a:cs typeface="Asap"/>
                  <a:sym typeface="Asap"/>
                </a:rPr>
                <a:t>Sơ</a:t>
              </a:r>
              <a:r>
                <a:rPr lang="en-US" sz="3300">
                  <a:solidFill>
                    <a:srgbClr val="000000"/>
                  </a:solidFill>
                  <a:latin typeface="Asap"/>
                  <a:ea typeface="Asap"/>
                  <a:cs typeface="Asap"/>
                  <a:sym typeface="Asap"/>
                </a:rPr>
                <a:t> đồ này mô tả ba thực thể chính: User (Người dùng), Food (Món ăn), và Order (Đơn hàng).</a:t>
              </a:r>
            </a:p>
            <a:p>
              <a:pPr algn="just">
                <a:lnSpc>
                  <a:spcPts val="4290"/>
                </a:lnSpc>
              </a:pPr>
            </a:p>
          </p:txBody>
        </p:sp>
      </p:grpSp>
      <p:sp>
        <p:nvSpPr>
          <p:cNvPr name="Freeform 5" id="5"/>
          <p:cNvSpPr/>
          <p:nvPr/>
        </p:nvSpPr>
        <p:spPr>
          <a:xfrm flipH="false" flipV="false" rot="0">
            <a:off x="760343" y="1187045"/>
            <a:ext cx="11622221" cy="8500738"/>
          </a:xfrm>
          <a:custGeom>
            <a:avLst/>
            <a:gdLst/>
            <a:ahLst/>
            <a:cxnLst/>
            <a:rect r="r" b="b" t="t" l="l"/>
            <a:pathLst>
              <a:path h="8500738" w="11622221">
                <a:moveTo>
                  <a:pt x="0" y="0"/>
                </a:moveTo>
                <a:lnTo>
                  <a:pt x="11622221" y="0"/>
                </a:lnTo>
                <a:lnTo>
                  <a:pt x="11622221" y="8500738"/>
                </a:lnTo>
                <a:lnTo>
                  <a:pt x="0" y="8500738"/>
                </a:lnTo>
                <a:lnTo>
                  <a:pt x="0" y="0"/>
                </a:lnTo>
                <a:close/>
              </a:path>
            </a:pathLst>
          </a:custGeom>
          <a:blipFill>
            <a:blip r:embed="rId2"/>
            <a:stretch>
              <a:fillRect l="0" t="0" r="0" b="0"/>
            </a:stretch>
          </a:blipFill>
        </p:spPr>
      </p:sp>
      <p:sp>
        <p:nvSpPr>
          <p:cNvPr name="TextBox 6" id="6"/>
          <p:cNvSpPr txBox="true"/>
          <p:nvPr/>
        </p:nvSpPr>
        <p:spPr>
          <a:xfrm rot="0">
            <a:off x="542629" y="21589"/>
            <a:ext cx="5331608" cy="1007111"/>
          </a:xfrm>
          <a:prstGeom prst="rect">
            <a:avLst/>
          </a:prstGeom>
        </p:spPr>
        <p:txBody>
          <a:bodyPr anchor="t" rtlCol="false" tIns="0" lIns="0" bIns="0" rIns="0">
            <a:spAutoFit/>
          </a:bodyPr>
          <a:lstStyle/>
          <a:p>
            <a:pPr algn="l">
              <a:lnSpc>
                <a:spcPts val="8059"/>
              </a:lnSpc>
            </a:pPr>
            <a:r>
              <a:rPr lang="en-US" b="true" sz="6199">
                <a:solidFill>
                  <a:srgbClr val="000000"/>
                </a:solidFill>
                <a:latin typeface="Asap Bold"/>
                <a:ea typeface="Asap Bold"/>
                <a:cs typeface="Asap Bold"/>
                <a:sym typeface="Asap Bold"/>
              </a:rPr>
              <a:t>DATA MODEL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9E4"/>
        </a:solidFill>
      </p:bgPr>
    </p:bg>
    <p:spTree>
      <p:nvGrpSpPr>
        <p:cNvPr id="1" name=""/>
        <p:cNvGrpSpPr/>
        <p:nvPr/>
      </p:nvGrpSpPr>
      <p:grpSpPr>
        <a:xfrm>
          <a:off x="0" y="0"/>
          <a:ext cx="0" cy="0"/>
          <a:chOff x="0" y="0"/>
          <a:chExt cx="0" cy="0"/>
        </a:xfrm>
      </p:grpSpPr>
      <p:sp>
        <p:nvSpPr>
          <p:cNvPr name="Freeform 2" id="2"/>
          <p:cNvSpPr/>
          <p:nvPr/>
        </p:nvSpPr>
        <p:spPr>
          <a:xfrm flipH="false" flipV="false" rot="0">
            <a:off x="5623442" y="251960"/>
            <a:ext cx="12207358" cy="9783080"/>
          </a:xfrm>
          <a:custGeom>
            <a:avLst/>
            <a:gdLst/>
            <a:ahLst/>
            <a:cxnLst/>
            <a:rect r="r" b="b" t="t" l="l"/>
            <a:pathLst>
              <a:path h="9783080" w="12207358">
                <a:moveTo>
                  <a:pt x="0" y="0"/>
                </a:moveTo>
                <a:lnTo>
                  <a:pt x="12207358" y="0"/>
                </a:lnTo>
                <a:lnTo>
                  <a:pt x="12207358" y="9783080"/>
                </a:lnTo>
                <a:lnTo>
                  <a:pt x="0" y="9783080"/>
                </a:lnTo>
                <a:lnTo>
                  <a:pt x="0" y="0"/>
                </a:lnTo>
                <a:close/>
              </a:path>
            </a:pathLst>
          </a:custGeom>
          <a:blipFill>
            <a:blip r:embed="rId2"/>
            <a:stretch>
              <a:fillRect l="0" t="0" r="0" b="0"/>
            </a:stretch>
          </a:blipFill>
        </p:spPr>
      </p:sp>
      <p:grpSp>
        <p:nvGrpSpPr>
          <p:cNvPr name="Group 3" id="3"/>
          <p:cNvGrpSpPr/>
          <p:nvPr/>
        </p:nvGrpSpPr>
        <p:grpSpPr>
          <a:xfrm rot="0">
            <a:off x="244993" y="1876186"/>
            <a:ext cx="5555821" cy="6534627"/>
            <a:chOff x="0" y="0"/>
            <a:chExt cx="957116" cy="1125738"/>
          </a:xfrm>
        </p:grpSpPr>
        <p:sp>
          <p:nvSpPr>
            <p:cNvPr name="Freeform 4" id="4"/>
            <p:cNvSpPr/>
            <p:nvPr/>
          </p:nvSpPr>
          <p:spPr>
            <a:xfrm flipH="false" flipV="false" rot="0">
              <a:off x="0" y="0"/>
              <a:ext cx="957116" cy="1125738"/>
            </a:xfrm>
            <a:custGeom>
              <a:avLst/>
              <a:gdLst/>
              <a:ahLst/>
              <a:cxnLst/>
              <a:rect r="r" b="b" t="t" l="l"/>
              <a:pathLst>
                <a:path h="1125738" w="957116">
                  <a:moveTo>
                    <a:pt x="27870" y="0"/>
                  </a:moveTo>
                  <a:lnTo>
                    <a:pt x="929246" y="0"/>
                  </a:lnTo>
                  <a:cubicBezTo>
                    <a:pt x="936638" y="0"/>
                    <a:pt x="943727" y="2936"/>
                    <a:pt x="948953" y="8163"/>
                  </a:cubicBezTo>
                  <a:cubicBezTo>
                    <a:pt x="954180" y="13389"/>
                    <a:pt x="957116" y="20478"/>
                    <a:pt x="957116" y="27870"/>
                  </a:cubicBezTo>
                  <a:lnTo>
                    <a:pt x="957116" y="1097868"/>
                  </a:lnTo>
                  <a:cubicBezTo>
                    <a:pt x="957116" y="1105259"/>
                    <a:pt x="954180" y="1112348"/>
                    <a:pt x="948953" y="1117575"/>
                  </a:cubicBezTo>
                  <a:cubicBezTo>
                    <a:pt x="943727" y="1122801"/>
                    <a:pt x="936638" y="1125738"/>
                    <a:pt x="929246" y="1125738"/>
                  </a:cubicBezTo>
                  <a:lnTo>
                    <a:pt x="27870" y="1125738"/>
                  </a:lnTo>
                  <a:cubicBezTo>
                    <a:pt x="20478" y="1125738"/>
                    <a:pt x="13389" y="1122801"/>
                    <a:pt x="8163" y="1117575"/>
                  </a:cubicBezTo>
                  <a:cubicBezTo>
                    <a:pt x="2936" y="1112348"/>
                    <a:pt x="0" y="1105259"/>
                    <a:pt x="0" y="1097868"/>
                  </a:cubicBezTo>
                  <a:lnTo>
                    <a:pt x="0" y="27870"/>
                  </a:lnTo>
                  <a:cubicBezTo>
                    <a:pt x="0" y="20478"/>
                    <a:pt x="2936" y="13389"/>
                    <a:pt x="8163" y="8163"/>
                  </a:cubicBezTo>
                  <a:cubicBezTo>
                    <a:pt x="13389" y="2936"/>
                    <a:pt x="20478" y="0"/>
                    <a:pt x="27870" y="0"/>
                  </a:cubicBezTo>
                  <a:close/>
                </a:path>
              </a:pathLst>
            </a:custGeom>
            <a:solidFill>
              <a:srgbClr val="FCFEF7"/>
            </a:solidFill>
            <a:ln w="38100" cap="sq">
              <a:solidFill>
                <a:srgbClr val="000000"/>
              </a:solidFill>
              <a:prstDash val="solid"/>
              <a:miter/>
            </a:ln>
          </p:spPr>
        </p:sp>
        <p:sp>
          <p:nvSpPr>
            <p:cNvPr name="TextBox 5" id="5"/>
            <p:cNvSpPr txBox="true"/>
            <p:nvPr/>
          </p:nvSpPr>
          <p:spPr>
            <a:xfrm>
              <a:off x="0" y="-47625"/>
              <a:ext cx="957116" cy="1173363"/>
            </a:xfrm>
            <a:prstGeom prst="rect">
              <a:avLst/>
            </a:prstGeom>
          </p:spPr>
          <p:txBody>
            <a:bodyPr anchor="ctr" rtlCol="false" tIns="254000" lIns="254000" bIns="254000" rIns="254000"/>
            <a:lstStyle/>
            <a:p>
              <a:pPr algn="just">
                <a:lnSpc>
                  <a:spcPts val="4420"/>
                </a:lnSpc>
              </a:pPr>
              <a:r>
                <a:rPr lang="en-US" sz="3400" b="true">
                  <a:solidFill>
                    <a:srgbClr val="000000"/>
                  </a:solidFill>
                  <a:latin typeface="Asap Bold"/>
                  <a:ea typeface="Asap Bold"/>
                  <a:cs typeface="Asap Bold"/>
                  <a:sym typeface="Asap Bold"/>
                </a:rPr>
                <a:t> LOGICAL</a:t>
              </a:r>
            </a:p>
            <a:p>
              <a:pPr algn="just">
                <a:lnSpc>
                  <a:spcPts val="4290"/>
                </a:lnSpc>
              </a:pPr>
              <a:r>
                <a:rPr lang="en-US" sz="3300">
                  <a:solidFill>
                    <a:srgbClr val="000000"/>
                  </a:solidFill>
                  <a:latin typeface="Asap"/>
                  <a:ea typeface="Asap"/>
                  <a:cs typeface="Asap"/>
                  <a:sym typeface="Asap"/>
                </a:rPr>
                <a:t>Mô hình này là một </a:t>
              </a:r>
              <a:r>
                <a:rPr lang="en-US" sz="3300">
                  <a:solidFill>
                    <a:srgbClr val="000000"/>
                  </a:solidFill>
                  <a:latin typeface="Asap"/>
                  <a:ea typeface="Asap"/>
                  <a:cs typeface="Asap"/>
                  <a:sym typeface="Asap"/>
                </a:rPr>
                <a:t>Sơ</a:t>
              </a:r>
              <a:r>
                <a:rPr lang="en-US" sz="3300">
                  <a:solidFill>
                    <a:srgbClr val="000000"/>
                  </a:solidFill>
                  <a:latin typeface="Asap"/>
                  <a:ea typeface="Asap"/>
                  <a:cs typeface="Asap"/>
                  <a:sym typeface="Asap"/>
                </a:rPr>
                <a:t> đồ Thực thể – Quan hệ (ERD) đang ở giai đoạn sơ khai, tập trung vào mô hình quan hệ chuẩn (Relational Model).</a:t>
              </a:r>
            </a:p>
            <a:p>
              <a:pPr algn="just">
                <a:lnSpc>
                  <a:spcPts val="4290"/>
                </a:lnSpc>
              </a:pPr>
              <a:r>
                <a:rPr lang="en-US" sz="3300">
                  <a:solidFill>
                    <a:srgbClr val="000000"/>
                  </a:solidFill>
                  <a:latin typeface="Asap"/>
                  <a:ea typeface="Asap"/>
                  <a:cs typeface="Asap"/>
                  <a:sym typeface="Asap"/>
                </a:rPr>
                <a:t>Nó xác định 4 thực thể chính: USER, ORDER, FOOD, và ORDER_ITEM.</a:t>
              </a:r>
            </a:p>
            <a:p>
              <a:pPr algn="just">
                <a:lnSpc>
                  <a:spcPts val="4290"/>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810467" y="6466998"/>
            <a:ext cx="17638963" cy="3820002"/>
            <a:chOff x="0" y="0"/>
            <a:chExt cx="3038711" cy="658082"/>
          </a:xfrm>
        </p:grpSpPr>
        <p:sp>
          <p:nvSpPr>
            <p:cNvPr name="Freeform 3" id="3"/>
            <p:cNvSpPr/>
            <p:nvPr/>
          </p:nvSpPr>
          <p:spPr>
            <a:xfrm flipH="false" flipV="false" rot="0">
              <a:off x="0" y="0"/>
              <a:ext cx="3038711" cy="658082"/>
            </a:xfrm>
            <a:custGeom>
              <a:avLst/>
              <a:gdLst/>
              <a:ahLst/>
              <a:cxnLst/>
              <a:rect r="r" b="b" t="t" l="l"/>
              <a:pathLst>
                <a:path h="658082" w="3038711">
                  <a:moveTo>
                    <a:pt x="8778" y="0"/>
                  </a:moveTo>
                  <a:lnTo>
                    <a:pt x="3029933" y="0"/>
                  </a:lnTo>
                  <a:cubicBezTo>
                    <a:pt x="3034781" y="0"/>
                    <a:pt x="3038711" y="3930"/>
                    <a:pt x="3038711" y="8778"/>
                  </a:cubicBezTo>
                  <a:lnTo>
                    <a:pt x="3038711" y="649304"/>
                  </a:lnTo>
                  <a:cubicBezTo>
                    <a:pt x="3038711" y="654152"/>
                    <a:pt x="3034781" y="658082"/>
                    <a:pt x="3029933" y="658082"/>
                  </a:cubicBezTo>
                  <a:lnTo>
                    <a:pt x="8778" y="658082"/>
                  </a:lnTo>
                  <a:cubicBezTo>
                    <a:pt x="3930" y="658082"/>
                    <a:pt x="0" y="654152"/>
                    <a:pt x="0" y="649304"/>
                  </a:cubicBezTo>
                  <a:lnTo>
                    <a:pt x="0" y="8778"/>
                  </a:lnTo>
                  <a:cubicBezTo>
                    <a:pt x="0" y="3930"/>
                    <a:pt x="3930" y="0"/>
                    <a:pt x="8778"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3038711" cy="705707"/>
            </a:xfrm>
            <a:prstGeom prst="rect">
              <a:avLst/>
            </a:prstGeom>
          </p:spPr>
          <p:txBody>
            <a:bodyPr anchor="ctr" rtlCol="false" tIns="254000" lIns="254000" bIns="254000" rIns="254000"/>
            <a:lstStyle/>
            <a:p>
              <a:pPr algn="just">
                <a:lnSpc>
                  <a:spcPts val="4420"/>
                </a:lnSpc>
              </a:pPr>
              <a:r>
                <a:rPr lang="en-US" sz="3400" b="true">
                  <a:solidFill>
                    <a:srgbClr val="000000"/>
                  </a:solidFill>
                  <a:latin typeface="Asap Bold"/>
                  <a:ea typeface="Asap Bold"/>
                  <a:cs typeface="Asap Bold"/>
                  <a:sym typeface="Asap Bold"/>
                </a:rPr>
                <a:t>Sơ đồ khối (Block Diagram)</a:t>
              </a:r>
            </a:p>
            <a:p>
              <a:pPr algn="just">
                <a:lnSpc>
                  <a:spcPts val="4290"/>
                </a:lnSpc>
              </a:pPr>
              <a:r>
                <a:rPr lang="en-US" sz="3300">
                  <a:solidFill>
                    <a:srgbClr val="000000"/>
                  </a:solidFill>
                  <a:latin typeface="Asap"/>
                  <a:ea typeface="Asap"/>
                  <a:cs typeface="Asap"/>
                  <a:sym typeface="Asap"/>
                </a:rPr>
                <a:t> Hệ thống sử dụng ReactJS cho frontend theo m</a:t>
              </a:r>
              <a:r>
                <a:rPr lang="en-US" sz="3300">
                  <a:solidFill>
                    <a:srgbClr val="000000"/>
                  </a:solidFill>
                  <a:latin typeface="Asap"/>
                  <a:ea typeface="Asap"/>
                  <a:cs typeface="Asap"/>
                  <a:sym typeface="Asap"/>
                </a:rPr>
                <a:t>ô hình SPA, trong đó trình duyệt tải index.html một lần và các</a:t>
              </a:r>
              <a:r>
                <a:rPr lang="en-US" sz="3300">
                  <a:solidFill>
                    <a:srgbClr val="000000"/>
                  </a:solidFill>
                  <a:latin typeface="Asap"/>
                  <a:ea typeface="Asap"/>
                  <a:cs typeface="Asap"/>
                  <a:sym typeface="Asap"/>
                </a:rPr>
                <a:t> điều hướng được xử lý bằng Client-Side Routing, giao diện được render thông qua việc gọi API Backend. Backend áp dụng kiến trúc phân lớp logic ngang, với luồng xử lý: Routes/API → Controllers → Models → Database, thể hiện rõ các tầng kỹ thuật nhưng không phân tách chi tiết theo chức năng nghiệp vụ.</a:t>
              </a:r>
            </a:p>
          </p:txBody>
        </p:sp>
      </p:grpSp>
      <p:sp>
        <p:nvSpPr>
          <p:cNvPr name="Freeform 5" id="5"/>
          <p:cNvSpPr/>
          <p:nvPr/>
        </p:nvSpPr>
        <p:spPr>
          <a:xfrm flipH="false" flipV="false" rot="0">
            <a:off x="3022903" y="1012698"/>
            <a:ext cx="13474888" cy="5770016"/>
          </a:xfrm>
          <a:custGeom>
            <a:avLst/>
            <a:gdLst/>
            <a:ahLst/>
            <a:cxnLst/>
            <a:rect r="r" b="b" t="t" l="l"/>
            <a:pathLst>
              <a:path h="5770016" w="13474888">
                <a:moveTo>
                  <a:pt x="0" y="0"/>
                </a:moveTo>
                <a:lnTo>
                  <a:pt x="13474888" y="0"/>
                </a:lnTo>
                <a:lnTo>
                  <a:pt x="13474888" y="5770017"/>
                </a:lnTo>
                <a:lnTo>
                  <a:pt x="0" y="5770017"/>
                </a:lnTo>
                <a:lnTo>
                  <a:pt x="0" y="0"/>
                </a:lnTo>
                <a:close/>
              </a:path>
            </a:pathLst>
          </a:custGeom>
          <a:blipFill>
            <a:blip r:embed="rId2"/>
            <a:stretch>
              <a:fillRect l="0" t="0" r="0" b="0"/>
            </a:stretch>
          </a:blipFill>
        </p:spPr>
      </p:sp>
      <p:sp>
        <p:nvSpPr>
          <p:cNvPr name="TextBox 6" id="6"/>
          <p:cNvSpPr txBox="true"/>
          <p:nvPr/>
        </p:nvSpPr>
        <p:spPr>
          <a:xfrm rot="0">
            <a:off x="810467" y="289560"/>
            <a:ext cx="5672495" cy="723138"/>
          </a:xfrm>
          <a:prstGeom prst="rect">
            <a:avLst/>
          </a:prstGeom>
        </p:spPr>
        <p:txBody>
          <a:bodyPr anchor="t" rtlCol="false" tIns="0" lIns="0" bIns="0" rIns="0">
            <a:spAutoFit/>
          </a:bodyPr>
          <a:lstStyle/>
          <a:p>
            <a:pPr algn="ctr">
              <a:lnSpc>
                <a:spcPts val="5586"/>
              </a:lnSpc>
              <a:spcBef>
                <a:spcPct val="0"/>
              </a:spcBef>
            </a:pPr>
            <a:r>
              <a:rPr lang="en-US" b="true" sz="4900">
                <a:solidFill>
                  <a:srgbClr val="000000"/>
                </a:solidFill>
                <a:latin typeface="Asap Bold"/>
                <a:ea typeface="Asap Bold"/>
                <a:cs typeface="Asap Bold"/>
                <a:sym typeface="Asap Bold"/>
              </a:rPr>
              <a:t>THIẾT KẾ KIẾN TRÚC</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324518" y="209073"/>
            <a:ext cx="17638963" cy="4362927"/>
            <a:chOff x="0" y="0"/>
            <a:chExt cx="3038711" cy="751613"/>
          </a:xfrm>
        </p:grpSpPr>
        <p:sp>
          <p:nvSpPr>
            <p:cNvPr name="Freeform 3" id="3"/>
            <p:cNvSpPr/>
            <p:nvPr/>
          </p:nvSpPr>
          <p:spPr>
            <a:xfrm flipH="false" flipV="false" rot="0">
              <a:off x="0" y="0"/>
              <a:ext cx="3038711" cy="751613"/>
            </a:xfrm>
            <a:custGeom>
              <a:avLst/>
              <a:gdLst/>
              <a:ahLst/>
              <a:cxnLst/>
              <a:rect r="r" b="b" t="t" l="l"/>
              <a:pathLst>
                <a:path h="751613" w="3038711">
                  <a:moveTo>
                    <a:pt x="8778" y="0"/>
                  </a:moveTo>
                  <a:lnTo>
                    <a:pt x="3029933" y="0"/>
                  </a:lnTo>
                  <a:cubicBezTo>
                    <a:pt x="3034781" y="0"/>
                    <a:pt x="3038711" y="3930"/>
                    <a:pt x="3038711" y="8778"/>
                  </a:cubicBezTo>
                  <a:lnTo>
                    <a:pt x="3038711" y="742835"/>
                  </a:lnTo>
                  <a:cubicBezTo>
                    <a:pt x="3038711" y="747683"/>
                    <a:pt x="3034781" y="751613"/>
                    <a:pt x="3029933" y="751613"/>
                  </a:cubicBezTo>
                  <a:lnTo>
                    <a:pt x="8778" y="751613"/>
                  </a:lnTo>
                  <a:cubicBezTo>
                    <a:pt x="3930" y="751613"/>
                    <a:pt x="0" y="747683"/>
                    <a:pt x="0" y="742835"/>
                  </a:cubicBezTo>
                  <a:lnTo>
                    <a:pt x="0" y="8778"/>
                  </a:lnTo>
                  <a:cubicBezTo>
                    <a:pt x="0" y="3930"/>
                    <a:pt x="3930" y="0"/>
                    <a:pt x="8778"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3038711" cy="799238"/>
            </a:xfrm>
            <a:prstGeom prst="rect">
              <a:avLst/>
            </a:prstGeom>
          </p:spPr>
          <p:txBody>
            <a:bodyPr anchor="ctr" rtlCol="false" tIns="254000" lIns="254000" bIns="254000" rIns="254000"/>
            <a:lstStyle/>
            <a:p>
              <a:pPr algn="just">
                <a:lnSpc>
                  <a:spcPts val="4420"/>
                </a:lnSpc>
              </a:pPr>
              <a:r>
                <a:rPr lang="en-US" sz="3400" b="true">
                  <a:solidFill>
                    <a:srgbClr val="000000"/>
                  </a:solidFill>
                  <a:latin typeface="Asap Bold"/>
                  <a:ea typeface="Asap Bold"/>
                  <a:cs typeface="Asap Bold"/>
                  <a:sym typeface="Asap Bold"/>
                </a:rPr>
                <a:t>Sơ đồ triển khai (Deployment View)</a:t>
              </a:r>
            </a:p>
            <a:p>
              <a:pPr algn="just">
                <a:lnSpc>
                  <a:spcPts val="4290"/>
                </a:lnSpc>
              </a:pPr>
              <a:r>
                <a:rPr lang="en-US" sz="3300">
                  <a:solidFill>
                    <a:srgbClr val="000000"/>
                  </a:solidFill>
                  <a:latin typeface="Asap"/>
                  <a:ea typeface="Asap"/>
                  <a:cs typeface="Asap"/>
                  <a:sym typeface="Asap"/>
                </a:rPr>
                <a:t> Hệ thống được triển khai theo m</a:t>
              </a:r>
              <a:r>
                <a:rPr lang="en-US" sz="3300">
                  <a:solidFill>
                    <a:srgbClr val="000000"/>
                  </a:solidFill>
                  <a:latin typeface="Asap"/>
                  <a:ea typeface="Asap"/>
                  <a:cs typeface="Asap"/>
                  <a:sym typeface="Asap"/>
                </a:rPr>
                <a:t>ô hình CI/CD kết hợp Docker và Kubernetes nhằm đảm bảo tự động hóa, khả năng mở rộng và dễ quản lý. Trong giai đoạn phát</a:t>
              </a:r>
              <a:r>
                <a:rPr lang="en-US" sz="3300">
                  <a:solidFill>
                    <a:srgbClr val="000000"/>
                  </a:solidFill>
                  <a:latin typeface="Asap"/>
                  <a:ea typeface="Asap"/>
                  <a:cs typeface="Asap"/>
                  <a:sym typeface="Asap"/>
                </a:rPr>
                <a:t> triển, ứng dụng được xây dựng bằng NodeJS trên Visual Studio Code, mã nguồn được quản lý bằng Git và lưu trữ trên GitHub. Khi có thay đổi, GitHub Actions kích hoạt pipeline để kiểm tra, chạy test, build Docker image và đẩy lên Container Registry. Kubernetes Cluster sau đó tự động pull image mới nhất và triển khai ứng dụng.</a:t>
              </a:r>
            </a:p>
          </p:txBody>
        </p:sp>
      </p:grpSp>
      <p:sp>
        <p:nvSpPr>
          <p:cNvPr name="Freeform 5" id="5"/>
          <p:cNvSpPr/>
          <p:nvPr/>
        </p:nvSpPr>
        <p:spPr>
          <a:xfrm flipH="false" flipV="false" rot="0">
            <a:off x="3393272" y="4392746"/>
            <a:ext cx="11501456" cy="6060382"/>
          </a:xfrm>
          <a:custGeom>
            <a:avLst/>
            <a:gdLst/>
            <a:ahLst/>
            <a:cxnLst/>
            <a:rect r="r" b="b" t="t" l="l"/>
            <a:pathLst>
              <a:path h="6060382" w="11501456">
                <a:moveTo>
                  <a:pt x="0" y="0"/>
                </a:moveTo>
                <a:lnTo>
                  <a:pt x="11501456" y="0"/>
                </a:lnTo>
                <a:lnTo>
                  <a:pt x="11501456" y="6060382"/>
                </a:lnTo>
                <a:lnTo>
                  <a:pt x="0" y="6060382"/>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165685" y="0"/>
            <a:ext cx="10064487" cy="1404938"/>
            <a:chOff x="0" y="0"/>
            <a:chExt cx="1803443" cy="251749"/>
          </a:xfrm>
        </p:grpSpPr>
        <p:sp>
          <p:nvSpPr>
            <p:cNvPr name="Freeform 3" id="3"/>
            <p:cNvSpPr/>
            <p:nvPr/>
          </p:nvSpPr>
          <p:spPr>
            <a:xfrm flipH="false" flipV="false" rot="0">
              <a:off x="0" y="0"/>
              <a:ext cx="1803442" cy="251749"/>
            </a:xfrm>
            <a:custGeom>
              <a:avLst/>
              <a:gdLst/>
              <a:ahLst/>
              <a:cxnLst/>
              <a:rect r="r" b="b" t="t" l="l"/>
              <a:pathLst>
                <a:path h="251749" w="1803442">
                  <a:moveTo>
                    <a:pt x="15385" y="0"/>
                  </a:moveTo>
                  <a:lnTo>
                    <a:pt x="1788058" y="0"/>
                  </a:lnTo>
                  <a:cubicBezTo>
                    <a:pt x="1792138" y="0"/>
                    <a:pt x="1796051" y="1621"/>
                    <a:pt x="1798936" y="4506"/>
                  </a:cubicBezTo>
                  <a:cubicBezTo>
                    <a:pt x="1801822" y="7391"/>
                    <a:pt x="1803442" y="11304"/>
                    <a:pt x="1803442" y="15385"/>
                  </a:cubicBezTo>
                  <a:lnTo>
                    <a:pt x="1803442" y="236364"/>
                  </a:lnTo>
                  <a:cubicBezTo>
                    <a:pt x="1803442" y="240445"/>
                    <a:pt x="1801822" y="244358"/>
                    <a:pt x="1798936" y="247243"/>
                  </a:cubicBezTo>
                  <a:cubicBezTo>
                    <a:pt x="1796051" y="250128"/>
                    <a:pt x="1792138" y="251749"/>
                    <a:pt x="1788058" y="251749"/>
                  </a:cubicBezTo>
                  <a:lnTo>
                    <a:pt x="15385" y="251749"/>
                  </a:lnTo>
                  <a:cubicBezTo>
                    <a:pt x="11304" y="251749"/>
                    <a:pt x="7391" y="250128"/>
                    <a:pt x="4506" y="247243"/>
                  </a:cubicBezTo>
                  <a:cubicBezTo>
                    <a:pt x="1621" y="244358"/>
                    <a:pt x="0" y="240445"/>
                    <a:pt x="0" y="236364"/>
                  </a:cubicBezTo>
                  <a:lnTo>
                    <a:pt x="0" y="15385"/>
                  </a:lnTo>
                  <a:cubicBezTo>
                    <a:pt x="0" y="11304"/>
                    <a:pt x="1621" y="7391"/>
                    <a:pt x="4506" y="4506"/>
                  </a:cubicBezTo>
                  <a:cubicBezTo>
                    <a:pt x="7391" y="1621"/>
                    <a:pt x="11304" y="0"/>
                    <a:pt x="15385" y="0"/>
                  </a:cubicBezTo>
                  <a:close/>
                </a:path>
              </a:pathLst>
            </a:custGeom>
            <a:solidFill>
              <a:srgbClr val="FCFEF7"/>
            </a:solidFill>
            <a:ln w="38100" cap="sq">
              <a:solidFill>
                <a:srgbClr val="000000"/>
              </a:solidFill>
              <a:prstDash val="solid"/>
              <a:miter/>
            </a:ln>
          </p:spPr>
        </p:sp>
        <p:sp>
          <p:nvSpPr>
            <p:cNvPr name="TextBox 4" id="4"/>
            <p:cNvSpPr txBox="true"/>
            <p:nvPr/>
          </p:nvSpPr>
          <p:spPr>
            <a:xfrm>
              <a:off x="0" y="-66675"/>
              <a:ext cx="1803443" cy="318424"/>
            </a:xfrm>
            <a:prstGeom prst="rect">
              <a:avLst/>
            </a:prstGeom>
          </p:spPr>
          <p:txBody>
            <a:bodyPr anchor="ctr" rtlCol="false" tIns="50800" lIns="50800" bIns="50800" rIns="50800"/>
            <a:lstStyle/>
            <a:p>
              <a:pPr algn="ctr" marL="0" indent="0" lvl="1">
                <a:lnSpc>
                  <a:spcPts val="7800"/>
                </a:lnSpc>
                <a:spcBef>
                  <a:spcPct val="0"/>
                </a:spcBef>
              </a:pPr>
              <a:r>
                <a:rPr lang="en-US" b="true" sz="6000">
                  <a:solidFill>
                    <a:srgbClr val="000000"/>
                  </a:solidFill>
                  <a:latin typeface="Asap Bold"/>
                  <a:ea typeface="Asap Bold"/>
                  <a:cs typeface="Asap Bold"/>
                  <a:sym typeface="Asap Bold"/>
                </a:rPr>
                <a:t>Decompo</a:t>
              </a:r>
              <a:r>
                <a:rPr lang="en-US" b="true" sz="6000">
                  <a:solidFill>
                    <a:srgbClr val="000000"/>
                  </a:solidFill>
                  <a:latin typeface="Asap Bold"/>
                  <a:ea typeface="Asap Bold"/>
                  <a:cs typeface="Asap Bold"/>
                  <a:sym typeface="Asap Bold"/>
                </a:rPr>
                <a:t>sition View</a:t>
              </a:r>
            </a:p>
          </p:txBody>
        </p:sp>
      </p:grpSp>
      <p:grpSp>
        <p:nvGrpSpPr>
          <p:cNvPr name="Group 5" id="5"/>
          <p:cNvGrpSpPr/>
          <p:nvPr/>
        </p:nvGrpSpPr>
        <p:grpSpPr>
          <a:xfrm rot="0">
            <a:off x="629541" y="2131169"/>
            <a:ext cx="5261698" cy="6878955"/>
            <a:chOff x="0" y="0"/>
            <a:chExt cx="942837" cy="1232631"/>
          </a:xfrm>
        </p:grpSpPr>
        <p:sp>
          <p:nvSpPr>
            <p:cNvPr name="Freeform 6" id="6"/>
            <p:cNvSpPr/>
            <p:nvPr/>
          </p:nvSpPr>
          <p:spPr>
            <a:xfrm flipH="false" flipV="false" rot="0">
              <a:off x="0" y="0"/>
              <a:ext cx="942837" cy="1232631"/>
            </a:xfrm>
            <a:custGeom>
              <a:avLst/>
              <a:gdLst/>
              <a:ahLst/>
              <a:cxnLst/>
              <a:rect r="r" b="b" t="t" l="l"/>
              <a:pathLst>
                <a:path h="1232631" w="942837">
                  <a:moveTo>
                    <a:pt x="29427" y="0"/>
                  </a:moveTo>
                  <a:lnTo>
                    <a:pt x="913409" y="0"/>
                  </a:lnTo>
                  <a:cubicBezTo>
                    <a:pt x="929662" y="0"/>
                    <a:pt x="942837" y="13175"/>
                    <a:pt x="942837" y="29427"/>
                  </a:cubicBezTo>
                  <a:lnTo>
                    <a:pt x="942837" y="1203204"/>
                  </a:lnTo>
                  <a:cubicBezTo>
                    <a:pt x="942837" y="1219456"/>
                    <a:pt x="929662" y="1232631"/>
                    <a:pt x="913409" y="1232631"/>
                  </a:cubicBezTo>
                  <a:lnTo>
                    <a:pt x="29427" y="1232631"/>
                  </a:lnTo>
                  <a:cubicBezTo>
                    <a:pt x="13175" y="1232631"/>
                    <a:pt x="0" y="1219456"/>
                    <a:pt x="0" y="1203204"/>
                  </a:cubicBezTo>
                  <a:lnTo>
                    <a:pt x="0" y="29427"/>
                  </a:lnTo>
                  <a:cubicBezTo>
                    <a:pt x="0" y="13175"/>
                    <a:pt x="13175" y="0"/>
                    <a:pt x="29427" y="0"/>
                  </a:cubicBezTo>
                  <a:close/>
                </a:path>
              </a:pathLst>
            </a:custGeom>
            <a:solidFill>
              <a:srgbClr val="9FDFFA"/>
            </a:solidFill>
            <a:ln w="38100" cap="sq">
              <a:solidFill>
                <a:srgbClr val="000000"/>
              </a:solidFill>
              <a:prstDash val="solid"/>
              <a:miter/>
            </a:ln>
          </p:spPr>
        </p:sp>
        <p:sp>
          <p:nvSpPr>
            <p:cNvPr name="TextBox 7" id="7"/>
            <p:cNvSpPr txBox="true"/>
            <p:nvPr/>
          </p:nvSpPr>
          <p:spPr>
            <a:xfrm>
              <a:off x="0" y="-47625"/>
              <a:ext cx="942837" cy="1280256"/>
            </a:xfrm>
            <a:prstGeom prst="rect">
              <a:avLst/>
            </a:prstGeom>
          </p:spPr>
          <p:txBody>
            <a:bodyPr anchor="ctr" rtlCol="false" tIns="50800" lIns="50800" bIns="50800" rIns="50800"/>
            <a:lstStyle/>
            <a:p>
              <a:pPr algn="just" marL="734059" indent="-367030" lvl="1">
                <a:lnSpc>
                  <a:spcPts val="4419"/>
                </a:lnSpc>
                <a:spcBef>
                  <a:spcPct val="0"/>
                </a:spcBef>
                <a:buAutoNum type="arabicPeriod" startAt="1"/>
              </a:pPr>
              <a:r>
                <a:rPr lang="en-US" b="true" sz="3399">
                  <a:solidFill>
                    <a:srgbClr val="000000"/>
                  </a:solidFill>
                  <a:latin typeface="Asap Bold"/>
                  <a:ea typeface="Asap Bold"/>
                  <a:cs typeface="Asap Bold"/>
                  <a:sym typeface="Asap Bold"/>
                </a:rPr>
                <a:t>Sơ đồ ngữ cản</a:t>
              </a:r>
              <a:r>
                <a:rPr lang="en-US" b="true" sz="3399">
                  <a:solidFill>
                    <a:srgbClr val="000000"/>
                  </a:solidFill>
                  <a:latin typeface="Asap Bold"/>
                  <a:ea typeface="Asap Bold"/>
                  <a:cs typeface="Asap Bold"/>
                  <a:sym typeface="Asap Bold"/>
                </a:rPr>
                <a:t>h (Context Diagram)</a:t>
              </a:r>
            </a:p>
            <a:p>
              <a:pPr algn="just">
                <a:lnSpc>
                  <a:spcPts val="4419"/>
                </a:lnSpc>
                <a:spcBef>
                  <a:spcPct val="0"/>
                </a:spcBef>
              </a:pPr>
              <a:r>
                <a:rPr lang="en-US" sz="3399">
                  <a:solidFill>
                    <a:srgbClr val="000000"/>
                  </a:solidFill>
                  <a:latin typeface="Asap"/>
                  <a:ea typeface="Asap"/>
                  <a:cs typeface="Asap"/>
                  <a:sym typeface="Asap"/>
                </a:rPr>
                <a:t>Sơ đồ cho thấy Food Delivery System là trung tâm, tương tác với Customer, SysAdmin và Payment Gateway, hỗ trợ đặt món trực tuyến, xem thông tin món ăn và quản lý nghiệp vụ cơ bản (CRUD).</a:t>
              </a:r>
            </a:p>
            <a:p>
              <a:pPr algn="just">
                <a:lnSpc>
                  <a:spcPts val="4419"/>
                </a:lnSpc>
                <a:spcBef>
                  <a:spcPct val="0"/>
                </a:spcBef>
              </a:pPr>
            </a:p>
          </p:txBody>
        </p:sp>
      </p:grpSp>
      <p:sp>
        <p:nvSpPr>
          <p:cNvPr name="Freeform 8" id="8"/>
          <p:cNvSpPr/>
          <p:nvPr/>
        </p:nvSpPr>
        <p:spPr>
          <a:xfrm flipH="false" flipV="false" rot="2175487">
            <a:off x="14531700" y="8229600"/>
            <a:ext cx="4437529" cy="4114800"/>
          </a:xfrm>
          <a:custGeom>
            <a:avLst/>
            <a:gdLst/>
            <a:ahLst/>
            <a:cxnLst/>
            <a:rect r="r" b="b" t="t" l="l"/>
            <a:pathLst>
              <a:path h="4114800" w="4437529">
                <a:moveTo>
                  <a:pt x="0" y="0"/>
                </a:moveTo>
                <a:lnTo>
                  <a:pt x="4437529" y="0"/>
                </a:lnTo>
                <a:lnTo>
                  <a:pt x="44375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6155003" y="1623981"/>
            <a:ext cx="12132997" cy="8282019"/>
          </a:xfrm>
          <a:custGeom>
            <a:avLst/>
            <a:gdLst/>
            <a:ahLst/>
            <a:cxnLst/>
            <a:rect r="r" b="b" t="t" l="l"/>
            <a:pathLst>
              <a:path h="8282019" w="12132997">
                <a:moveTo>
                  <a:pt x="0" y="0"/>
                </a:moveTo>
                <a:lnTo>
                  <a:pt x="12132997" y="0"/>
                </a:lnTo>
                <a:lnTo>
                  <a:pt x="12132997" y="8282019"/>
                </a:lnTo>
                <a:lnTo>
                  <a:pt x="0" y="8282019"/>
                </a:lnTo>
                <a:lnTo>
                  <a:pt x="0" y="0"/>
                </a:lnTo>
                <a:close/>
              </a:path>
            </a:pathLst>
          </a:custGeom>
          <a:blipFill>
            <a:blip r:embed="rId4"/>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411826" y="599123"/>
            <a:ext cx="6486341" cy="9088755"/>
            <a:chOff x="0" y="0"/>
            <a:chExt cx="1162279" cy="1628602"/>
          </a:xfrm>
        </p:grpSpPr>
        <p:sp>
          <p:nvSpPr>
            <p:cNvPr name="Freeform 3" id="3"/>
            <p:cNvSpPr/>
            <p:nvPr/>
          </p:nvSpPr>
          <p:spPr>
            <a:xfrm flipH="false" flipV="false" rot="0">
              <a:off x="0" y="0"/>
              <a:ext cx="1162279" cy="1628602"/>
            </a:xfrm>
            <a:custGeom>
              <a:avLst/>
              <a:gdLst/>
              <a:ahLst/>
              <a:cxnLst/>
              <a:rect r="r" b="b" t="t" l="l"/>
              <a:pathLst>
                <a:path h="1628602" w="1162279">
                  <a:moveTo>
                    <a:pt x="23871" y="0"/>
                  </a:moveTo>
                  <a:lnTo>
                    <a:pt x="1138408" y="0"/>
                  </a:lnTo>
                  <a:cubicBezTo>
                    <a:pt x="1144739" y="0"/>
                    <a:pt x="1150811" y="2515"/>
                    <a:pt x="1155287" y="6992"/>
                  </a:cubicBezTo>
                  <a:cubicBezTo>
                    <a:pt x="1159764" y="11469"/>
                    <a:pt x="1162279" y="17540"/>
                    <a:pt x="1162279" y="23871"/>
                  </a:cubicBezTo>
                  <a:lnTo>
                    <a:pt x="1162279" y="1604731"/>
                  </a:lnTo>
                  <a:cubicBezTo>
                    <a:pt x="1162279" y="1611062"/>
                    <a:pt x="1159764" y="1617134"/>
                    <a:pt x="1155287" y="1621611"/>
                  </a:cubicBezTo>
                  <a:cubicBezTo>
                    <a:pt x="1150811" y="1626087"/>
                    <a:pt x="1144739" y="1628602"/>
                    <a:pt x="1138408" y="1628602"/>
                  </a:cubicBezTo>
                  <a:lnTo>
                    <a:pt x="23871" y="1628602"/>
                  </a:lnTo>
                  <a:cubicBezTo>
                    <a:pt x="17540" y="1628602"/>
                    <a:pt x="11469" y="1626087"/>
                    <a:pt x="6992" y="1621611"/>
                  </a:cubicBezTo>
                  <a:cubicBezTo>
                    <a:pt x="2515" y="1617134"/>
                    <a:pt x="0" y="1611062"/>
                    <a:pt x="0" y="1604731"/>
                  </a:cubicBezTo>
                  <a:lnTo>
                    <a:pt x="0" y="23871"/>
                  </a:lnTo>
                  <a:cubicBezTo>
                    <a:pt x="0" y="17540"/>
                    <a:pt x="2515" y="11469"/>
                    <a:pt x="6992" y="6992"/>
                  </a:cubicBezTo>
                  <a:cubicBezTo>
                    <a:pt x="11469" y="2515"/>
                    <a:pt x="17540" y="0"/>
                    <a:pt x="23871" y="0"/>
                  </a:cubicBezTo>
                  <a:close/>
                </a:path>
              </a:pathLst>
            </a:custGeom>
            <a:solidFill>
              <a:srgbClr val="9FDFFA"/>
            </a:solidFill>
            <a:ln w="38100" cap="sq">
              <a:solidFill>
                <a:srgbClr val="000000"/>
              </a:solidFill>
              <a:prstDash val="solid"/>
              <a:miter/>
            </a:ln>
          </p:spPr>
        </p:sp>
        <p:sp>
          <p:nvSpPr>
            <p:cNvPr name="TextBox 4" id="4"/>
            <p:cNvSpPr txBox="true"/>
            <p:nvPr/>
          </p:nvSpPr>
          <p:spPr>
            <a:xfrm>
              <a:off x="0" y="-47625"/>
              <a:ext cx="1162279" cy="1676227"/>
            </a:xfrm>
            <a:prstGeom prst="rect">
              <a:avLst/>
            </a:prstGeom>
          </p:spPr>
          <p:txBody>
            <a:bodyPr anchor="ctr" rtlCol="false" tIns="50800" lIns="50800" bIns="50800" rIns="50800"/>
            <a:lstStyle/>
            <a:p>
              <a:pPr algn="just" marL="734059" indent="-367030" lvl="1">
                <a:lnSpc>
                  <a:spcPts val="4419"/>
                </a:lnSpc>
                <a:spcBef>
                  <a:spcPct val="0"/>
                </a:spcBef>
                <a:buAutoNum type="arabicPeriod" startAt="1"/>
              </a:pPr>
              <a:r>
                <a:rPr lang="en-US" b="true" sz="3399">
                  <a:solidFill>
                    <a:srgbClr val="000000"/>
                  </a:solidFill>
                  <a:latin typeface="Asap Bold"/>
                  <a:ea typeface="Asap Bold"/>
                  <a:cs typeface="Asap Bold"/>
                  <a:sym typeface="Asap Bold"/>
                </a:rPr>
                <a:t>Container Diagram – C2</a:t>
              </a:r>
            </a:p>
            <a:p>
              <a:pPr algn="just">
                <a:lnSpc>
                  <a:spcPts val="4419"/>
                </a:lnSpc>
                <a:spcBef>
                  <a:spcPct val="0"/>
                </a:spcBef>
              </a:pPr>
              <a:r>
                <a:rPr lang="en-US" sz="3399">
                  <a:solidFill>
                    <a:srgbClr val="000000"/>
                  </a:solidFill>
                  <a:latin typeface="Asap"/>
                  <a:ea typeface="Asap"/>
                  <a:cs typeface="Asap"/>
                  <a:sym typeface="Asap"/>
                </a:rPr>
                <a:t>Sơ đồ C2 thể hiện kiến trúc tổng thể và công nghệ chính của hệ thống Fast Food Delivery với 4 container: Web Application/SPA (ReactJS – frontend), Food Delivery API (NodeJS + Express – backend) và Database. SPA chạy trên trình duyệt, cung cấp chức năng đặt hàng trực tuyến và giao tiếp với Backend qua HTTP/API. Backend xử lý nghiệp vụ, truy xuất Database và tích hợp Stripe để thanh toán, trong đó Stripe thực hiện xử lý giao dịch và callback xác nhận về hệ thống.</a:t>
              </a:r>
            </a:p>
          </p:txBody>
        </p:sp>
      </p:grpSp>
      <p:sp>
        <p:nvSpPr>
          <p:cNvPr name="Freeform 5" id="5"/>
          <p:cNvSpPr/>
          <p:nvPr/>
        </p:nvSpPr>
        <p:spPr>
          <a:xfrm flipH="false" flipV="false" rot="2175487">
            <a:off x="14531700" y="8229600"/>
            <a:ext cx="4437529" cy="4114800"/>
          </a:xfrm>
          <a:custGeom>
            <a:avLst/>
            <a:gdLst/>
            <a:ahLst/>
            <a:cxnLst/>
            <a:rect r="r" b="b" t="t" l="l"/>
            <a:pathLst>
              <a:path h="4114800" w="4437529">
                <a:moveTo>
                  <a:pt x="0" y="0"/>
                </a:moveTo>
                <a:lnTo>
                  <a:pt x="4437529" y="0"/>
                </a:lnTo>
                <a:lnTo>
                  <a:pt x="44375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353965" y="514350"/>
            <a:ext cx="10535802" cy="9258300"/>
          </a:xfrm>
          <a:custGeom>
            <a:avLst/>
            <a:gdLst/>
            <a:ahLst/>
            <a:cxnLst/>
            <a:rect r="r" b="b" t="t" l="l"/>
            <a:pathLst>
              <a:path h="9258300" w="10535802">
                <a:moveTo>
                  <a:pt x="0" y="0"/>
                </a:moveTo>
                <a:lnTo>
                  <a:pt x="10535802" y="0"/>
                </a:lnTo>
                <a:lnTo>
                  <a:pt x="10535802" y="9258300"/>
                </a:lnTo>
                <a:lnTo>
                  <a:pt x="0" y="9258300"/>
                </a:lnTo>
                <a:lnTo>
                  <a:pt x="0" y="0"/>
                </a:lnTo>
                <a:close/>
              </a:path>
            </a:pathLst>
          </a:custGeom>
          <a:blipFill>
            <a:blip r:embed="rId4"/>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61200"/>
            <a:ext cx="14986445" cy="10409399"/>
          </a:xfrm>
          <a:custGeom>
            <a:avLst/>
            <a:gdLst/>
            <a:ahLst/>
            <a:cxnLst/>
            <a:rect r="r" b="b" t="t" l="l"/>
            <a:pathLst>
              <a:path h="10409399" w="14986445">
                <a:moveTo>
                  <a:pt x="0" y="0"/>
                </a:moveTo>
                <a:lnTo>
                  <a:pt x="14986445" y="0"/>
                </a:lnTo>
                <a:lnTo>
                  <a:pt x="14986445" y="10409400"/>
                </a:lnTo>
                <a:lnTo>
                  <a:pt x="0" y="10409400"/>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0" y="0"/>
            <a:ext cx="14963059" cy="1404938"/>
            <a:chOff x="0" y="0"/>
            <a:chExt cx="2681211" cy="251749"/>
          </a:xfrm>
        </p:grpSpPr>
        <p:sp>
          <p:nvSpPr>
            <p:cNvPr name="Freeform 3" id="3"/>
            <p:cNvSpPr/>
            <p:nvPr/>
          </p:nvSpPr>
          <p:spPr>
            <a:xfrm flipH="false" flipV="false" rot="0">
              <a:off x="0" y="0"/>
              <a:ext cx="2681211" cy="251749"/>
            </a:xfrm>
            <a:custGeom>
              <a:avLst/>
              <a:gdLst/>
              <a:ahLst/>
              <a:cxnLst/>
              <a:rect r="r" b="b" t="t" l="l"/>
              <a:pathLst>
                <a:path h="251749" w="2681211">
                  <a:moveTo>
                    <a:pt x="10348" y="0"/>
                  </a:moveTo>
                  <a:lnTo>
                    <a:pt x="2670863" y="0"/>
                  </a:lnTo>
                  <a:cubicBezTo>
                    <a:pt x="2676578" y="0"/>
                    <a:pt x="2681211" y="4633"/>
                    <a:pt x="2681211" y="10348"/>
                  </a:cubicBezTo>
                  <a:lnTo>
                    <a:pt x="2681211" y="241401"/>
                  </a:lnTo>
                  <a:cubicBezTo>
                    <a:pt x="2681211" y="247116"/>
                    <a:pt x="2676578" y="251749"/>
                    <a:pt x="2670863" y="251749"/>
                  </a:cubicBezTo>
                  <a:lnTo>
                    <a:pt x="10348" y="251749"/>
                  </a:lnTo>
                  <a:cubicBezTo>
                    <a:pt x="4633" y="251749"/>
                    <a:pt x="0" y="247116"/>
                    <a:pt x="0" y="241401"/>
                  </a:cubicBezTo>
                  <a:lnTo>
                    <a:pt x="0" y="10348"/>
                  </a:lnTo>
                  <a:cubicBezTo>
                    <a:pt x="0" y="4633"/>
                    <a:pt x="4633" y="0"/>
                    <a:pt x="10348" y="0"/>
                  </a:cubicBezTo>
                  <a:close/>
                </a:path>
              </a:pathLst>
            </a:custGeom>
            <a:solidFill>
              <a:srgbClr val="FCFEF7"/>
            </a:solidFill>
            <a:ln w="38100" cap="sq">
              <a:solidFill>
                <a:srgbClr val="000000"/>
              </a:solidFill>
              <a:prstDash val="solid"/>
              <a:miter/>
            </a:ln>
          </p:spPr>
        </p:sp>
        <p:sp>
          <p:nvSpPr>
            <p:cNvPr name="TextBox 4" id="4"/>
            <p:cNvSpPr txBox="true"/>
            <p:nvPr/>
          </p:nvSpPr>
          <p:spPr>
            <a:xfrm>
              <a:off x="0" y="-66675"/>
              <a:ext cx="2681211" cy="318424"/>
            </a:xfrm>
            <a:prstGeom prst="rect">
              <a:avLst/>
            </a:prstGeom>
          </p:spPr>
          <p:txBody>
            <a:bodyPr anchor="ctr" rtlCol="false" tIns="50800" lIns="50800" bIns="50800" rIns="50800"/>
            <a:lstStyle/>
            <a:p>
              <a:pPr algn="ctr" marL="0" indent="0" lvl="1">
                <a:lnSpc>
                  <a:spcPts val="7800"/>
                </a:lnSpc>
                <a:spcBef>
                  <a:spcPct val="0"/>
                </a:spcBef>
              </a:pPr>
              <a:r>
                <a:rPr lang="en-US" b="true" sz="6000">
                  <a:solidFill>
                    <a:srgbClr val="000000"/>
                  </a:solidFill>
                  <a:latin typeface="Asap Bold"/>
                  <a:ea typeface="Asap Bold"/>
                  <a:cs typeface="Asap Bold"/>
                  <a:sym typeface="Asap Bold"/>
                </a:rPr>
                <a:t>Componen</a:t>
              </a:r>
              <a:r>
                <a:rPr lang="en-US" b="true" sz="6000">
                  <a:solidFill>
                    <a:srgbClr val="000000"/>
                  </a:solidFill>
                  <a:latin typeface="Asap Bold"/>
                  <a:ea typeface="Asap Bold"/>
                  <a:cs typeface="Asap Bold"/>
                  <a:sym typeface="Asap Bold"/>
                </a:rPr>
                <a:t>t Diagram (C3 – High-level)</a:t>
              </a:r>
            </a:p>
          </p:txBody>
        </p:sp>
      </p:grpSp>
      <p:grpSp>
        <p:nvGrpSpPr>
          <p:cNvPr name="Group 5" id="5"/>
          <p:cNvGrpSpPr/>
          <p:nvPr/>
        </p:nvGrpSpPr>
        <p:grpSpPr>
          <a:xfrm rot="0">
            <a:off x="324518" y="1735319"/>
            <a:ext cx="17638963" cy="8288655"/>
            <a:chOff x="0" y="0"/>
            <a:chExt cx="3038711" cy="1427909"/>
          </a:xfrm>
        </p:grpSpPr>
        <p:sp>
          <p:nvSpPr>
            <p:cNvPr name="Freeform 6" id="6"/>
            <p:cNvSpPr/>
            <p:nvPr/>
          </p:nvSpPr>
          <p:spPr>
            <a:xfrm flipH="false" flipV="false" rot="0">
              <a:off x="0" y="0"/>
              <a:ext cx="3038711" cy="1427909"/>
            </a:xfrm>
            <a:custGeom>
              <a:avLst/>
              <a:gdLst/>
              <a:ahLst/>
              <a:cxnLst/>
              <a:rect r="r" b="b" t="t" l="l"/>
              <a:pathLst>
                <a:path h="1427909" w="3038711">
                  <a:moveTo>
                    <a:pt x="8778" y="0"/>
                  </a:moveTo>
                  <a:lnTo>
                    <a:pt x="3029933" y="0"/>
                  </a:lnTo>
                  <a:cubicBezTo>
                    <a:pt x="3034781" y="0"/>
                    <a:pt x="3038711" y="3930"/>
                    <a:pt x="3038711" y="8778"/>
                  </a:cubicBezTo>
                  <a:lnTo>
                    <a:pt x="3038711" y="1419130"/>
                  </a:lnTo>
                  <a:cubicBezTo>
                    <a:pt x="3038711" y="1423979"/>
                    <a:pt x="3034781" y="1427909"/>
                    <a:pt x="3029933" y="1427909"/>
                  </a:cubicBezTo>
                  <a:lnTo>
                    <a:pt x="8778" y="1427909"/>
                  </a:lnTo>
                  <a:cubicBezTo>
                    <a:pt x="3930" y="1427909"/>
                    <a:pt x="0" y="1423979"/>
                    <a:pt x="0" y="1419130"/>
                  </a:cubicBezTo>
                  <a:lnTo>
                    <a:pt x="0" y="8778"/>
                  </a:lnTo>
                  <a:cubicBezTo>
                    <a:pt x="0" y="3930"/>
                    <a:pt x="3930" y="0"/>
                    <a:pt x="8778" y="0"/>
                  </a:cubicBezTo>
                  <a:close/>
                </a:path>
              </a:pathLst>
            </a:custGeom>
            <a:solidFill>
              <a:srgbClr val="FCFEF7"/>
            </a:solidFill>
            <a:ln w="38100" cap="sq">
              <a:solidFill>
                <a:srgbClr val="000000"/>
              </a:solidFill>
              <a:prstDash val="solid"/>
              <a:miter/>
            </a:ln>
          </p:spPr>
        </p:sp>
        <p:sp>
          <p:nvSpPr>
            <p:cNvPr name="TextBox 7" id="7"/>
            <p:cNvSpPr txBox="true"/>
            <p:nvPr/>
          </p:nvSpPr>
          <p:spPr>
            <a:xfrm>
              <a:off x="0" y="-47625"/>
              <a:ext cx="3038711" cy="1475534"/>
            </a:xfrm>
            <a:prstGeom prst="rect">
              <a:avLst/>
            </a:prstGeom>
          </p:spPr>
          <p:txBody>
            <a:bodyPr anchor="ctr" rtlCol="false" tIns="254000" lIns="254000" bIns="254000" rIns="254000"/>
            <a:lstStyle/>
            <a:p>
              <a:pPr algn="just">
                <a:lnSpc>
                  <a:spcPts val="4419"/>
                </a:lnSpc>
              </a:pPr>
              <a:r>
                <a:rPr lang="en-US" sz="3399">
                  <a:solidFill>
                    <a:srgbClr val="000000"/>
                  </a:solidFill>
                  <a:latin typeface="Asap"/>
                  <a:ea typeface="Asap"/>
                  <a:cs typeface="Asap"/>
                  <a:sym typeface="Asap"/>
                </a:rPr>
                <a:t>Hệ thống backend được thiết kế theo kiến trúc phân tầng kiểu MVC hướng API, nhằm tăng khả năng bảo trì, mở rộng và phân tách trách nhiệm rõ ràng. Kiến trúc gồm 4 layer chính:</a:t>
              </a:r>
            </a:p>
            <a:p>
              <a:pPr algn="just" marL="734059" indent="-367030" lvl="1">
                <a:lnSpc>
                  <a:spcPts val="4419"/>
                </a:lnSpc>
                <a:buFont typeface="Arial"/>
                <a:buChar char="•"/>
              </a:pPr>
              <a:r>
                <a:rPr lang="en-US" sz="3399">
                  <a:solidFill>
                    <a:srgbClr val="000000"/>
                  </a:solidFill>
                  <a:latin typeface="Asap"/>
                  <a:ea typeface="Asap"/>
                  <a:cs typeface="Asap"/>
                  <a:sym typeface="Asap"/>
                </a:rPr>
                <a:t>API</a:t>
              </a:r>
              <a:r>
                <a:rPr lang="en-US" sz="3399">
                  <a:solidFill>
                    <a:srgbClr val="000000"/>
                  </a:solidFill>
                  <a:latin typeface="Asap"/>
                  <a:ea typeface="Asap"/>
                  <a:cs typeface="Asap"/>
                  <a:sym typeface="Asap"/>
                </a:rPr>
                <a:t> / Routes Layer: Đóng vai trò cổng vào của hệ thống, định nghĩa các endpoint HTTP cho từng nghiệp vụ (Food, Cart, Order…). Mỗi request từ client được ánh xạ và điều hướng đến đúng xử lý.</a:t>
              </a:r>
            </a:p>
            <a:p>
              <a:pPr algn="just" marL="734059" indent="-367030" lvl="1">
                <a:lnSpc>
                  <a:spcPts val="4419"/>
                </a:lnSpc>
                <a:buFont typeface="Arial"/>
                <a:buChar char="•"/>
              </a:pPr>
              <a:r>
                <a:rPr lang="en-US" sz="3399">
                  <a:solidFill>
                    <a:srgbClr val="000000"/>
                  </a:solidFill>
                  <a:latin typeface="Asap"/>
                  <a:ea typeface="Asap"/>
                  <a:cs typeface="Asap"/>
                  <a:sym typeface="Asap"/>
                </a:rPr>
                <a:t>Middleware Layer: Xử lý các mối quan tâm xuyên suốt như xác thực và phân quyền. Kiểm tra token, quyền truy cập và bảo vệ các tài nguyên nhạy cảm trước khi vào nghiệp vụ.</a:t>
              </a:r>
            </a:p>
            <a:p>
              <a:pPr algn="just" marL="734059" indent="-367030" lvl="1">
                <a:lnSpc>
                  <a:spcPts val="4419"/>
                </a:lnSpc>
                <a:buFont typeface="Arial"/>
                <a:buChar char="•"/>
              </a:pPr>
              <a:r>
                <a:rPr lang="en-US" sz="3399">
                  <a:solidFill>
                    <a:srgbClr val="000000"/>
                  </a:solidFill>
                  <a:latin typeface="Asap"/>
                  <a:ea typeface="Asap"/>
                  <a:cs typeface="Asap"/>
                  <a:sym typeface="Asap"/>
                </a:rPr>
                <a:t>Controller Layer: Điều phối nghiệp vụ, nhận request đã xác thực, xử lý logic, tương tác với dữ liệu và trả phản hồi cho client.</a:t>
              </a:r>
            </a:p>
            <a:p>
              <a:pPr algn="just" marL="734059" indent="-367030" lvl="1">
                <a:lnSpc>
                  <a:spcPts val="4419"/>
                </a:lnSpc>
                <a:buFont typeface="Arial"/>
                <a:buChar char="•"/>
              </a:pPr>
              <a:r>
                <a:rPr lang="en-US" sz="3399">
                  <a:solidFill>
                    <a:srgbClr val="000000"/>
                  </a:solidFill>
                  <a:latin typeface="Asap"/>
                  <a:ea typeface="Asap"/>
                  <a:cs typeface="Asap"/>
                  <a:sym typeface="Asap"/>
                </a:rPr>
                <a:t>Model Layer: Định nghĩa schema dữ liệu và trừu tượng hóa truy cập cơ sở dữ liệu, chịu trách nhiệm toàn bộ logic làm việc với database.</a:t>
              </a:r>
            </a:p>
            <a:p>
              <a:pPr algn="just">
                <a:lnSpc>
                  <a:spcPts val="4419"/>
                </a:lnSpc>
              </a:pPr>
              <a:r>
                <a:rPr lang="en-US" sz="3399">
                  <a:solidFill>
                    <a:srgbClr val="000000"/>
                  </a:solidFill>
                  <a:latin typeface="Asap"/>
                  <a:ea typeface="Asap"/>
                  <a:cs typeface="Asap"/>
                  <a:sym typeface="Asap"/>
                </a:rPr>
                <a:t>Cấu trúc này giúp hệ thống rõ ràng, dễ quản lý và tránh trùng lặp logic giữa các thành phần.</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FE9E4"/>
        </a:solidFill>
      </p:bgPr>
    </p:bg>
    <p:spTree>
      <p:nvGrpSpPr>
        <p:cNvPr id="1" name=""/>
        <p:cNvGrpSpPr/>
        <p:nvPr/>
      </p:nvGrpSpPr>
      <p:grpSpPr>
        <a:xfrm>
          <a:off x="0" y="0"/>
          <a:ext cx="0" cy="0"/>
          <a:chOff x="0" y="0"/>
          <a:chExt cx="0" cy="0"/>
        </a:xfrm>
      </p:grpSpPr>
      <p:sp>
        <p:nvSpPr>
          <p:cNvPr name="Freeform 2" id="2"/>
          <p:cNvSpPr/>
          <p:nvPr/>
        </p:nvSpPr>
        <p:spPr>
          <a:xfrm flipH="false" flipV="false" rot="0">
            <a:off x="571092" y="0"/>
            <a:ext cx="17515703" cy="10287000"/>
          </a:xfrm>
          <a:custGeom>
            <a:avLst/>
            <a:gdLst/>
            <a:ahLst/>
            <a:cxnLst/>
            <a:rect r="r" b="b" t="t" l="l"/>
            <a:pathLst>
              <a:path h="10287000" w="17515703">
                <a:moveTo>
                  <a:pt x="0" y="0"/>
                </a:moveTo>
                <a:lnTo>
                  <a:pt x="17515703" y="0"/>
                </a:lnTo>
                <a:lnTo>
                  <a:pt x="17515703" y="10287000"/>
                </a:lnTo>
                <a:lnTo>
                  <a:pt x="0" y="10287000"/>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0" y="326231"/>
            <a:ext cx="14963059" cy="1404938"/>
            <a:chOff x="0" y="0"/>
            <a:chExt cx="2681211" cy="251749"/>
          </a:xfrm>
        </p:grpSpPr>
        <p:sp>
          <p:nvSpPr>
            <p:cNvPr name="Freeform 3" id="3"/>
            <p:cNvSpPr/>
            <p:nvPr/>
          </p:nvSpPr>
          <p:spPr>
            <a:xfrm flipH="false" flipV="false" rot="0">
              <a:off x="0" y="0"/>
              <a:ext cx="2681211" cy="251749"/>
            </a:xfrm>
            <a:custGeom>
              <a:avLst/>
              <a:gdLst/>
              <a:ahLst/>
              <a:cxnLst/>
              <a:rect r="r" b="b" t="t" l="l"/>
              <a:pathLst>
                <a:path h="251749" w="2681211">
                  <a:moveTo>
                    <a:pt x="10348" y="0"/>
                  </a:moveTo>
                  <a:lnTo>
                    <a:pt x="2670863" y="0"/>
                  </a:lnTo>
                  <a:cubicBezTo>
                    <a:pt x="2676578" y="0"/>
                    <a:pt x="2681211" y="4633"/>
                    <a:pt x="2681211" y="10348"/>
                  </a:cubicBezTo>
                  <a:lnTo>
                    <a:pt x="2681211" y="241401"/>
                  </a:lnTo>
                  <a:cubicBezTo>
                    <a:pt x="2681211" y="247116"/>
                    <a:pt x="2676578" y="251749"/>
                    <a:pt x="2670863" y="251749"/>
                  </a:cubicBezTo>
                  <a:lnTo>
                    <a:pt x="10348" y="251749"/>
                  </a:lnTo>
                  <a:cubicBezTo>
                    <a:pt x="4633" y="251749"/>
                    <a:pt x="0" y="247116"/>
                    <a:pt x="0" y="241401"/>
                  </a:cubicBezTo>
                  <a:lnTo>
                    <a:pt x="0" y="10348"/>
                  </a:lnTo>
                  <a:cubicBezTo>
                    <a:pt x="0" y="4633"/>
                    <a:pt x="4633" y="0"/>
                    <a:pt x="10348" y="0"/>
                  </a:cubicBezTo>
                  <a:close/>
                </a:path>
              </a:pathLst>
            </a:custGeom>
            <a:solidFill>
              <a:srgbClr val="FCFEF7"/>
            </a:solidFill>
            <a:ln w="38100" cap="sq">
              <a:solidFill>
                <a:srgbClr val="000000"/>
              </a:solidFill>
              <a:prstDash val="solid"/>
              <a:miter/>
            </a:ln>
          </p:spPr>
        </p:sp>
        <p:sp>
          <p:nvSpPr>
            <p:cNvPr name="TextBox 4" id="4"/>
            <p:cNvSpPr txBox="true"/>
            <p:nvPr/>
          </p:nvSpPr>
          <p:spPr>
            <a:xfrm>
              <a:off x="0" y="-66675"/>
              <a:ext cx="2681211" cy="318424"/>
            </a:xfrm>
            <a:prstGeom prst="rect">
              <a:avLst/>
            </a:prstGeom>
          </p:spPr>
          <p:txBody>
            <a:bodyPr anchor="ctr" rtlCol="false" tIns="50800" lIns="50800" bIns="50800" rIns="50800"/>
            <a:lstStyle/>
            <a:p>
              <a:pPr algn="ctr" marL="0" indent="0" lvl="1">
                <a:lnSpc>
                  <a:spcPts val="7800"/>
                </a:lnSpc>
                <a:spcBef>
                  <a:spcPct val="0"/>
                </a:spcBef>
              </a:pPr>
              <a:r>
                <a:rPr lang="en-US" b="true" sz="6000">
                  <a:solidFill>
                    <a:srgbClr val="000000"/>
                  </a:solidFill>
                  <a:latin typeface="Asap Bold"/>
                  <a:ea typeface="Asap Bold"/>
                  <a:cs typeface="Asap Bold"/>
                  <a:sym typeface="Asap Bold"/>
                </a:rPr>
                <a:t>Code</a:t>
              </a:r>
              <a:r>
                <a:rPr lang="en-US" b="true" sz="6000">
                  <a:solidFill>
                    <a:srgbClr val="000000"/>
                  </a:solidFill>
                  <a:latin typeface="Asap Bold"/>
                  <a:ea typeface="Asap Bold"/>
                  <a:cs typeface="Asap Bold"/>
                  <a:sym typeface="Asap Bold"/>
                </a:rPr>
                <a:t> Diagram – C4 (Chi tiết mức mã nguồn)</a:t>
              </a:r>
            </a:p>
          </p:txBody>
        </p:sp>
      </p:grpSp>
      <p:grpSp>
        <p:nvGrpSpPr>
          <p:cNvPr name="Group 5" id="5"/>
          <p:cNvGrpSpPr/>
          <p:nvPr/>
        </p:nvGrpSpPr>
        <p:grpSpPr>
          <a:xfrm rot="0">
            <a:off x="324518" y="2074545"/>
            <a:ext cx="17638963" cy="7183755"/>
            <a:chOff x="0" y="0"/>
            <a:chExt cx="3038711" cy="1237565"/>
          </a:xfrm>
        </p:grpSpPr>
        <p:sp>
          <p:nvSpPr>
            <p:cNvPr name="Freeform 6" id="6"/>
            <p:cNvSpPr/>
            <p:nvPr/>
          </p:nvSpPr>
          <p:spPr>
            <a:xfrm flipH="false" flipV="false" rot="0">
              <a:off x="0" y="0"/>
              <a:ext cx="3038711" cy="1237565"/>
            </a:xfrm>
            <a:custGeom>
              <a:avLst/>
              <a:gdLst/>
              <a:ahLst/>
              <a:cxnLst/>
              <a:rect r="r" b="b" t="t" l="l"/>
              <a:pathLst>
                <a:path h="1237565" w="3038711">
                  <a:moveTo>
                    <a:pt x="8778" y="0"/>
                  </a:moveTo>
                  <a:lnTo>
                    <a:pt x="3029933" y="0"/>
                  </a:lnTo>
                  <a:cubicBezTo>
                    <a:pt x="3034781" y="0"/>
                    <a:pt x="3038711" y="3930"/>
                    <a:pt x="3038711" y="8778"/>
                  </a:cubicBezTo>
                  <a:lnTo>
                    <a:pt x="3038711" y="1228786"/>
                  </a:lnTo>
                  <a:cubicBezTo>
                    <a:pt x="3038711" y="1233634"/>
                    <a:pt x="3034781" y="1237565"/>
                    <a:pt x="3029933" y="1237565"/>
                  </a:cubicBezTo>
                  <a:lnTo>
                    <a:pt x="8778" y="1237565"/>
                  </a:lnTo>
                  <a:cubicBezTo>
                    <a:pt x="3930" y="1237565"/>
                    <a:pt x="0" y="1233634"/>
                    <a:pt x="0" y="1228786"/>
                  </a:cubicBezTo>
                  <a:lnTo>
                    <a:pt x="0" y="8778"/>
                  </a:lnTo>
                  <a:cubicBezTo>
                    <a:pt x="0" y="3930"/>
                    <a:pt x="3930" y="0"/>
                    <a:pt x="8778" y="0"/>
                  </a:cubicBezTo>
                  <a:close/>
                </a:path>
              </a:pathLst>
            </a:custGeom>
            <a:solidFill>
              <a:srgbClr val="FCFEF7"/>
            </a:solidFill>
            <a:ln w="38100" cap="sq">
              <a:solidFill>
                <a:srgbClr val="000000"/>
              </a:solidFill>
              <a:prstDash val="solid"/>
              <a:miter/>
            </a:ln>
          </p:spPr>
        </p:sp>
        <p:sp>
          <p:nvSpPr>
            <p:cNvPr name="TextBox 7" id="7"/>
            <p:cNvSpPr txBox="true"/>
            <p:nvPr/>
          </p:nvSpPr>
          <p:spPr>
            <a:xfrm>
              <a:off x="0" y="-47625"/>
              <a:ext cx="3038711" cy="1285190"/>
            </a:xfrm>
            <a:prstGeom prst="rect">
              <a:avLst/>
            </a:prstGeom>
          </p:spPr>
          <p:txBody>
            <a:bodyPr anchor="ctr" rtlCol="false" tIns="254000" lIns="254000" bIns="254000" rIns="254000"/>
            <a:lstStyle/>
            <a:p>
              <a:pPr algn="just">
                <a:lnSpc>
                  <a:spcPts val="4419"/>
                </a:lnSpc>
              </a:pPr>
              <a:r>
                <a:rPr lang="en-US" sz="3399">
                  <a:solidFill>
                    <a:srgbClr val="000000"/>
                  </a:solidFill>
                  <a:latin typeface="Asap"/>
                  <a:ea typeface="Asap"/>
                  <a:cs typeface="Asap"/>
                  <a:sym typeface="Asap"/>
                </a:rPr>
                <a:t>Sơ đồ C4 Code mô tả cấu trúc backend ở mức chi tiết nhất, thể hiện cách các thành phần mã nguồn liên kết và phụ thuộc lẫn nhau. Hệ thống được thiết kế theo kiến trúc đa tầng hướng API,</a:t>
              </a:r>
              <a:r>
                <a:rPr lang="en-US" sz="3399">
                  <a:solidFill>
                    <a:srgbClr val="000000"/>
                  </a:solidFill>
                  <a:latin typeface="Asap"/>
                  <a:ea typeface="Asap"/>
                  <a:cs typeface="Asap"/>
                  <a:sym typeface="Asap"/>
                </a:rPr>
                <a:t> gồm: Routes → Middleware → Controllers → Models → Config.</a:t>
              </a:r>
            </a:p>
            <a:p>
              <a:pPr algn="just" marL="734059" indent="-367030" lvl="1">
                <a:lnSpc>
                  <a:spcPts val="4419"/>
                </a:lnSpc>
                <a:buFont typeface="Arial"/>
                <a:buChar char="•"/>
              </a:pPr>
              <a:r>
                <a:rPr lang="en-US" sz="3399">
                  <a:solidFill>
                    <a:srgbClr val="000000"/>
                  </a:solidFill>
                  <a:latin typeface="Asap"/>
                  <a:ea typeface="Asap"/>
                  <a:cs typeface="Asap"/>
                  <a:sym typeface="Asap"/>
                </a:rPr>
                <a:t>Routes (Cart, Order, Food, User) là điểm vào của hệ thống, định nghĩa các endpoint RESTful.</a:t>
              </a:r>
            </a:p>
            <a:p>
              <a:pPr algn="just" marL="734059" indent="-367030" lvl="1">
                <a:lnSpc>
                  <a:spcPts val="4419"/>
                </a:lnSpc>
                <a:buFont typeface="Arial"/>
                <a:buChar char="•"/>
              </a:pPr>
              <a:r>
                <a:rPr lang="en-US" sz="3399">
                  <a:solidFill>
                    <a:srgbClr val="000000"/>
                  </a:solidFill>
                  <a:latin typeface="Asap"/>
                  <a:ea typeface="Asap"/>
                  <a:cs typeface="Asap"/>
                  <a:sym typeface="Asap"/>
                </a:rPr>
                <a:t>AuthMiddleware đảm nhiệm xác thực JWT, kiểm soát truy cập và bảo mật nhất quán.</a:t>
              </a:r>
            </a:p>
            <a:p>
              <a:pPr algn="just" marL="734059" indent="-367030" lvl="1">
                <a:lnSpc>
                  <a:spcPts val="4419"/>
                </a:lnSpc>
                <a:buFont typeface="Arial"/>
                <a:buChar char="•"/>
              </a:pPr>
              <a:r>
                <a:rPr lang="en-US" sz="3399">
                  <a:solidFill>
                    <a:srgbClr val="000000"/>
                  </a:solidFill>
                  <a:latin typeface="Asap"/>
                  <a:ea typeface="Asap"/>
                  <a:cs typeface="Asap"/>
                  <a:sym typeface="Asap"/>
                </a:rPr>
                <a:t>Controllers điều phối logic nghiệp vụ (giỏ hàng, đơn hàng, thực đơn, người dùng), kết nối nhiều model khi cần.</a:t>
              </a:r>
            </a:p>
            <a:p>
              <a:pPr algn="just" marL="734059" indent="-367030" lvl="1">
                <a:lnSpc>
                  <a:spcPts val="4419"/>
                </a:lnSpc>
                <a:buFont typeface="Arial"/>
                <a:buChar char="•"/>
              </a:pPr>
              <a:r>
                <a:rPr lang="en-US" sz="3399">
                  <a:solidFill>
                    <a:srgbClr val="000000"/>
                  </a:solidFill>
                  <a:latin typeface="Asap"/>
                  <a:ea typeface="Asap"/>
                  <a:cs typeface="Asap"/>
                  <a:sym typeface="Asap"/>
                </a:rPr>
                <a:t>Models định nghĩa schema dữ liệu và xử lý truy cập cơ sở dữ liệu.</a:t>
              </a:r>
            </a:p>
            <a:p>
              <a:pPr algn="just" marL="734059" indent="-367030" lvl="1">
                <a:lnSpc>
                  <a:spcPts val="4419"/>
                </a:lnSpc>
                <a:buFont typeface="Arial"/>
                <a:buChar char="•"/>
              </a:pPr>
              <a:r>
                <a:rPr lang="en-US" sz="3399">
                  <a:solidFill>
                    <a:srgbClr val="000000"/>
                  </a:solidFill>
                  <a:latin typeface="Asap"/>
                  <a:ea typeface="Asap"/>
                  <a:cs typeface="Asap"/>
                  <a:sym typeface="Asap"/>
                </a:rPr>
                <a:t>Config (AppConfig, DBConfig) quản lý cấu hình hệ thống và kết nối database.</a:t>
              </a:r>
            </a:p>
            <a:p>
              <a:pPr algn="just">
                <a:lnSpc>
                  <a:spcPts val="4419"/>
                </a:lnSpc>
              </a:pPr>
              <a:r>
                <a:rPr lang="en-US" sz="3399">
                  <a:solidFill>
                    <a:srgbClr val="000000"/>
                  </a:solidFill>
                  <a:latin typeface="Asap"/>
                  <a:ea typeface="Asap"/>
                  <a:cs typeface="Asap"/>
                  <a:sym typeface="Asap"/>
                </a:rPr>
                <a:t>Thiết</a:t>
              </a:r>
              <a:r>
                <a:rPr lang="en-US" sz="3399">
                  <a:solidFill>
                    <a:srgbClr val="000000"/>
                  </a:solidFill>
                  <a:latin typeface="Asap"/>
                  <a:ea typeface="Asap"/>
                  <a:cs typeface="Asap"/>
                  <a:sym typeface="Asap"/>
                </a:rPr>
                <a:t> kế này giúp phân tách trách nhiệm rõ ràng, tăng bảo mật, dễ mở rộng và bảo trì cho hệ thống đặt đồ ăn trực tuyến.</a:t>
              </a:r>
            </a:p>
          </p:txBody>
        </p:sp>
      </p:grpSp>
    </p:spTree>
  </p:cSld>
  <p:clrMapOvr>
    <a:masterClrMapping/>
  </p:clrMapOvr>
</p:sld>
</file>

<file path=ppt/slides/slide21.xml><?xml version="1.0" encoding="utf-8"?>
<p:sld xmlns:p="http://schemas.openxmlformats.org/presentationml/2006/main" xmlns:a="http://schemas.openxmlformats.org/drawingml/2006/main">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0" y="1224582"/>
            <a:ext cx="4751110" cy="1228725"/>
            <a:chOff x="0" y="0"/>
            <a:chExt cx="755350" cy="195348"/>
          </a:xfrm>
        </p:grpSpPr>
        <p:sp>
          <p:nvSpPr>
            <p:cNvPr name="Freeform 3" id="3"/>
            <p:cNvSpPr/>
            <p:nvPr/>
          </p:nvSpPr>
          <p:spPr>
            <a:xfrm flipH="false" flipV="false" rot="0">
              <a:off x="0" y="0"/>
              <a:ext cx="755351" cy="195348"/>
            </a:xfrm>
            <a:custGeom>
              <a:avLst/>
              <a:gdLst/>
              <a:ahLst/>
              <a:cxnLst/>
              <a:rect r="r" b="b" t="t" l="l"/>
              <a:pathLst>
                <a:path h="195348" w="755351">
                  <a:moveTo>
                    <a:pt x="32590" y="0"/>
                  </a:moveTo>
                  <a:lnTo>
                    <a:pt x="722761" y="0"/>
                  </a:lnTo>
                  <a:cubicBezTo>
                    <a:pt x="740759" y="0"/>
                    <a:pt x="755351" y="14591"/>
                    <a:pt x="755351" y="32590"/>
                  </a:cubicBezTo>
                  <a:lnTo>
                    <a:pt x="755351" y="162758"/>
                  </a:lnTo>
                  <a:cubicBezTo>
                    <a:pt x="755351" y="171401"/>
                    <a:pt x="751917" y="179690"/>
                    <a:pt x="745805" y="185802"/>
                  </a:cubicBezTo>
                  <a:cubicBezTo>
                    <a:pt x="739693" y="191914"/>
                    <a:pt x="731404" y="195348"/>
                    <a:pt x="722761" y="195348"/>
                  </a:cubicBezTo>
                  <a:lnTo>
                    <a:pt x="32590" y="195348"/>
                  </a:lnTo>
                  <a:cubicBezTo>
                    <a:pt x="14591" y="195348"/>
                    <a:pt x="0" y="180757"/>
                    <a:pt x="0" y="162758"/>
                  </a:cubicBezTo>
                  <a:lnTo>
                    <a:pt x="0" y="32590"/>
                  </a:lnTo>
                  <a:cubicBezTo>
                    <a:pt x="0" y="14591"/>
                    <a:pt x="14591" y="0"/>
                    <a:pt x="32590"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755350" cy="242973"/>
            </a:xfrm>
            <a:prstGeom prst="rect">
              <a:avLst/>
            </a:prstGeom>
          </p:spPr>
          <p:txBody>
            <a:bodyPr anchor="ctr" rtlCol="false" tIns="254000" lIns="254000" bIns="254000" rIns="254000"/>
            <a:lstStyle/>
            <a:p>
              <a:pPr algn="l">
                <a:lnSpc>
                  <a:spcPts val="5200"/>
                </a:lnSpc>
              </a:pPr>
              <a:r>
                <a:rPr lang="en-US" b="true" sz="4000">
                  <a:solidFill>
                    <a:srgbClr val="000000"/>
                  </a:solidFill>
                  <a:latin typeface="Asap Bold"/>
                  <a:ea typeface="Asap Bold"/>
                  <a:cs typeface="Asap Bold"/>
                  <a:sym typeface="Asap Bold"/>
                </a:rPr>
                <a:t>CHỨC NĂNG TEST</a:t>
              </a:r>
            </a:p>
          </p:txBody>
        </p:sp>
      </p:grpSp>
      <p:grpSp>
        <p:nvGrpSpPr>
          <p:cNvPr name="Group 5" id="5"/>
          <p:cNvGrpSpPr/>
          <p:nvPr/>
        </p:nvGrpSpPr>
        <p:grpSpPr>
          <a:xfrm rot="0">
            <a:off x="1028700" y="2653333"/>
            <a:ext cx="16564101" cy="6907531"/>
            <a:chOff x="0" y="0"/>
            <a:chExt cx="2633427" cy="1098187"/>
          </a:xfrm>
        </p:grpSpPr>
        <p:sp>
          <p:nvSpPr>
            <p:cNvPr name="Freeform 6" id="6"/>
            <p:cNvSpPr/>
            <p:nvPr/>
          </p:nvSpPr>
          <p:spPr>
            <a:xfrm flipH="false" flipV="false" rot="0">
              <a:off x="0" y="0"/>
              <a:ext cx="2633427" cy="1098187"/>
            </a:xfrm>
            <a:custGeom>
              <a:avLst/>
              <a:gdLst/>
              <a:ahLst/>
              <a:cxnLst/>
              <a:rect r="r" b="b" t="t" l="l"/>
              <a:pathLst>
                <a:path h="1098187" w="2633427">
                  <a:moveTo>
                    <a:pt x="9348" y="0"/>
                  </a:moveTo>
                  <a:lnTo>
                    <a:pt x="2624079" y="0"/>
                  </a:lnTo>
                  <a:cubicBezTo>
                    <a:pt x="2626558" y="0"/>
                    <a:pt x="2628936" y="985"/>
                    <a:pt x="2630689" y="2738"/>
                  </a:cubicBezTo>
                  <a:cubicBezTo>
                    <a:pt x="2632442" y="4491"/>
                    <a:pt x="2633427" y="6869"/>
                    <a:pt x="2633427" y="9348"/>
                  </a:cubicBezTo>
                  <a:lnTo>
                    <a:pt x="2633427" y="1088839"/>
                  </a:lnTo>
                  <a:cubicBezTo>
                    <a:pt x="2633427" y="1091318"/>
                    <a:pt x="2632442" y="1093696"/>
                    <a:pt x="2630689" y="1095449"/>
                  </a:cubicBezTo>
                  <a:cubicBezTo>
                    <a:pt x="2628936" y="1097202"/>
                    <a:pt x="2626558" y="1098187"/>
                    <a:pt x="2624079" y="1098187"/>
                  </a:cubicBezTo>
                  <a:lnTo>
                    <a:pt x="9348" y="1098187"/>
                  </a:lnTo>
                  <a:cubicBezTo>
                    <a:pt x="6869" y="1098187"/>
                    <a:pt x="4491" y="1097202"/>
                    <a:pt x="2738" y="1095449"/>
                  </a:cubicBezTo>
                  <a:cubicBezTo>
                    <a:pt x="985" y="1093696"/>
                    <a:pt x="0" y="1091318"/>
                    <a:pt x="0" y="1088839"/>
                  </a:cubicBezTo>
                  <a:lnTo>
                    <a:pt x="0" y="9348"/>
                  </a:lnTo>
                  <a:cubicBezTo>
                    <a:pt x="0" y="6869"/>
                    <a:pt x="985" y="4491"/>
                    <a:pt x="2738" y="2738"/>
                  </a:cubicBezTo>
                  <a:cubicBezTo>
                    <a:pt x="4491" y="985"/>
                    <a:pt x="6869" y="0"/>
                    <a:pt x="9348" y="0"/>
                  </a:cubicBezTo>
                  <a:close/>
                </a:path>
              </a:pathLst>
            </a:custGeom>
            <a:solidFill>
              <a:srgbClr val="FCFEF7"/>
            </a:solidFill>
            <a:ln w="38100" cap="sq">
              <a:solidFill>
                <a:srgbClr val="000000"/>
              </a:solidFill>
              <a:prstDash val="solid"/>
              <a:miter/>
            </a:ln>
          </p:spPr>
        </p:sp>
        <p:sp>
          <p:nvSpPr>
            <p:cNvPr name="TextBox 7" id="7"/>
            <p:cNvSpPr txBox="true"/>
            <p:nvPr/>
          </p:nvSpPr>
          <p:spPr>
            <a:xfrm>
              <a:off x="0" y="-47625"/>
              <a:ext cx="2633427" cy="1145812"/>
            </a:xfrm>
            <a:prstGeom prst="rect">
              <a:avLst/>
            </a:prstGeom>
          </p:spPr>
          <p:txBody>
            <a:bodyPr anchor="ctr" rtlCol="false" tIns="254000" lIns="254000" bIns="254000" rIns="254000"/>
            <a:lstStyle/>
            <a:p>
              <a:pPr algn="just" marL="777245" indent="-388622" lvl="1">
                <a:lnSpc>
                  <a:spcPts val="4680"/>
                </a:lnSpc>
                <a:buAutoNum type="arabicPeriod" startAt="1"/>
              </a:pPr>
              <a:r>
                <a:rPr lang="en-US" b="true" sz="3600">
                  <a:solidFill>
                    <a:srgbClr val="000000"/>
                  </a:solidFill>
                  <a:latin typeface="Asap Bold"/>
                  <a:ea typeface="Asap Bold"/>
                  <a:cs typeface="Asap Bold"/>
                  <a:sym typeface="Asap Bold"/>
                </a:rPr>
                <a:t>Functionality Testing</a:t>
              </a:r>
            </a:p>
            <a:p>
              <a:pPr algn="just" marL="690887" indent="-345444" lvl="1">
                <a:lnSpc>
                  <a:spcPts val="4160"/>
                </a:lnSpc>
                <a:buFont typeface="Arial"/>
                <a:buChar char="•"/>
              </a:pPr>
              <a:r>
                <a:rPr lang="en-US" sz="3200">
                  <a:solidFill>
                    <a:srgbClr val="000000"/>
                  </a:solidFill>
                  <a:latin typeface="Asap"/>
                  <a:ea typeface="Asap"/>
                  <a:cs typeface="Asap"/>
                  <a:sym typeface="Asap"/>
                </a:rPr>
                <a:t>Form Functionality:</a:t>
              </a:r>
            </a:p>
            <a:p>
              <a:pPr algn="just">
                <a:lnSpc>
                  <a:spcPts val="4160"/>
                </a:lnSpc>
              </a:pPr>
              <a:r>
                <a:rPr lang="en-US" sz="3200">
                  <a:solidFill>
                    <a:srgbClr val="000000"/>
                  </a:solidFill>
                  <a:latin typeface="Asap"/>
                  <a:ea typeface="Asap"/>
                  <a:cs typeface="Asap"/>
                  <a:sym typeface="Asap"/>
                </a:rPr>
                <a:t> Kiểm tra hoạt động của tất cả form, validation dữ liệu, thông báo lỗi khi nhập sai/thiếu, khả năng submit và lưu dữ liệu, cùng các chức năng thêm – sửa – xem – xóa.</a:t>
              </a:r>
            </a:p>
            <a:p>
              <a:pPr algn="just" marL="690887" indent="-345444" lvl="1">
                <a:lnSpc>
                  <a:spcPts val="4160"/>
                </a:lnSpc>
                <a:buFont typeface="Arial"/>
                <a:buChar char="•"/>
              </a:pPr>
              <a:r>
                <a:rPr lang="en-US" sz="3200">
                  <a:solidFill>
                    <a:srgbClr val="000000"/>
                  </a:solidFill>
                  <a:latin typeface="Asap"/>
                  <a:ea typeface="Asap"/>
                  <a:cs typeface="Asap"/>
                  <a:sym typeface="Asap"/>
                </a:rPr>
                <a:t>Link Testing:</a:t>
              </a:r>
            </a:p>
            <a:p>
              <a:pPr algn="just">
                <a:lnSpc>
                  <a:spcPts val="4160"/>
                </a:lnSpc>
              </a:pPr>
              <a:r>
                <a:rPr lang="en-US" sz="3200">
                  <a:solidFill>
                    <a:srgbClr val="000000"/>
                  </a:solidFill>
                  <a:latin typeface="Asap"/>
                  <a:ea typeface="Asap"/>
                  <a:cs typeface="Asap"/>
                  <a:sym typeface="Asap"/>
                </a:rPr>
                <a:t> Đảm bảo tất cả liên kết nội bộ và bên ngoài (bao gồm API Stripe) hoạt động đúng, không có link lỗi hay trang không truy cập được.</a:t>
              </a:r>
            </a:p>
            <a:p>
              <a:pPr algn="just" marL="690887" indent="-345444" lvl="1">
                <a:lnSpc>
                  <a:spcPts val="4160"/>
                </a:lnSpc>
                <a:buFont typeface="Arial"/>
                <a:buChar char="•"/>
              </a:pPr>
              <a:r>
                <a:rPr lang="en-US" sz="3200">
                  <a:solidFill>
                    <a:srgbClr val="000000"/>
                  </a:solidFill>
                  <a:latin typeface="Asap"/>
                  <a:ea typeface="Asap"/>
                  <a:cs typeface="Asap"/>
                  <a:sym typeface="Asap"/>
                </a:rPr>
                <a:t>Business Workflow:</a:t>
              </a:r>
            </a:p>
            <a:p>
              <a:pPr algn="just">
                <a:lnSpc>
                  <a:spcPts val="4160"/>
                </a:lnSpc>
              </a:pPr>
              <a:r>
                <a:rPr lang="en-US" sz="3200">
                  <a:solidFill>
                    <a:srgbClr val="000000"/>
                  </a:solidFill>
                  <a:latin typeface="Asap"/>
                  <a:ea typeface="Asap"/>
                  <a:cs typeface="Asap"/>
                  <a:sym typeface="Asap"/>
                </a:rPr>
                <a:t> Kiểm tra luồng nghiệp vụ End-to-End từ đăng nhập, chọn món, giỏ hàng đến thanh toán; xác minh tính nhất quán dữ liệu, xử lý đúng khi luồng bị gián đoạn và điều hướng chính xác sau mỗi bước.</a:t>
              </a:r>
            </a:p>
            <a:p>
              <a:pPr algn="just">
                <a:lnSpc>
                  <a:spcPts val="4160"/>
                </a:lnSpc>
              </a:pPr>
            </a:p>
          </p:txBody>
        </p:sp>
      </p:grpSp>
      <p:sp>
        <p:nvSpPr>
          <p:cNvPr name="TextBox 8" id="8"/>
          <p:cNvSpPr txBox="true"/>
          <p:nvPr/>
        </p:nvSpPr>
        <p:spPr>
          <a:xfrm rot="0">
            <a:off x="5076025" y="21590"/>
            <a:ext cx="8135950" cy="1007110"/>
          </a:xfrm>
          <a:prstGeom prst="rect">
            <a:avLst/>
          </a:prstGeom>
        </p:spPr>
        <p:txBody>
          <a:bodyPr anchor="t" rtlCol="false" tIns="0" lIns="0" bIns="0" rIns="0">
            <a:spAutoFit/>
          </a:bodyPr>
          <a:lstStyle/>
          <a:p>
            <a:pPr algn="l">
              <a:lnSpc>
                <a:spcPts val="8060"/>
              </a:lnSpc>
            </a:pPr>
            <a:r>
              <a:rPr lang="en-US" b="true" sz="6200">
                <a:solidFill>
                  <a:srgbClr val="000000"/>
                </a:solidFill>
                <a:latin typeface="Asap Bold"/>
                <a:ea typeface="Asap Bold"/>
                <a:cs typeface="Asap Bold"/>
                <a:sym typeface="Asap Bold"/>
              </a:rPr>
              <a:t>KẾ HOACH KIỂM THỬ</a:t>
            </a:r>
          </a:p>
        </p:txBody>
      </p:sp>
      <p:sp>
        <p:nvSpPr>
          <p:cNvPr name="TextBox 9" id="9"/>
          <p:cNvSpPr txBox="true"/>
          <p:nvPr/>
        </p:nvSpPr>
        <p:spPr>
          <a:xfrm rot="0">
            <a:off x="16438573" y="21590"/>
            <a:ext cx="5904379" cy="1007110"/>
          </a:xfrm>
          <a:prstGeom prst="rect">
            <a:avLst/>
          </a:prstGeom>
        </p:spPr>
        <p:txBody>
          <a:bodyPr anchor="t" rtlCol="false" tIns="0" lIns="0" bIns="0" rIns="0">
            <a:spAutoFit/>
          </a:bodyPr>
          <a:lstStyle/>
          <a:p>
            <a:pPr algn="l">
              <a:lnSpc>
                <a:spcPts val="8060"/>
              </a:lnSpc>
            </a:pPr>
            <a:r>
              <a:rPr lang="en-US" b="true" sz="6200">
                <a:solidFill>
                  <a:srgbClr val="F8CAB9">
                    <a:alpha val="0"/>
                  </a:srgbClr>
                </a:solidFill>
                <a:latin typeface="Asap Bold"/>
                <a:ea typeface="Asap Bold"/>
                <a:cs typeface="Asap Bold"/>
                <a:sym typeface="Asap Bold"/>
              </a:rPr>
              <a:t>.</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276842" y="138588"/>
            <a:ext cx="17734315" cy="10009823"/>
            <a:chOff x="0" y="0"/>
            <a:chExt cx="2819472" cy="1591402"/>
          </a:xfrm>
        </p:grpSpPr>
        <p:sp>
          <p:nvSpPr>
            <p:cNvPr name="Freeform 3" id="3"/>
            <p:cNvSpPr/>
            <p:nvPr/>
          </p:nvSpPr>
          <p:spPr>
            <a:xfrm flipH="false" flipV="false" rot="0">
              <a:off x="0" y="0"/>
              <a:ext cx="2819472" cy="1591402"/>
            </a:xfrm>
            <a:custGeom>
              <a:avLst/>
              <a:gdLst/>
              <a:ahLst/>
              <a:cxnLst/>
              <a:rect r="r" b="b" t="t" l="l"/>
              <a:pathLst>
                <a:path h="1591402" w="2819472">
                  <a:moveTo>
                    <a:pt x="8731" y="0"/>
                  </a:moveTo>
                  <a:lnTo>
                    <a:pt x="2810741" y="0"/>
                  </a:lnTo>
                  <a:cubicBezTo>
                    <a:pt x="2815563" y="0"/>
                    <a:pt x="2819472" y="3909"/>
                    <a:pt x="2819472" y="8731"/>
                  </a:cubicBezTo>
                  <a:lnTo>
                    <a:pt x="2819472" y="1582671"/>
                  </a:lnTo>
                  <a:cubicBezTo>
                    <a:pt x="2819472" y="1587493"/>
                    <a:pt x="2815563" y="1591402"/>
                    <a:pt x="2810741" y="1591402"/>
                  </a:cubicBezTo>
                  <a:lnTo>
                    <a:pt x="8731" y="1591402"/>
                  </a:lnTo>
                  <a:cubicBezTo>
                    <a:pt x="3909" y="1591402"/>
                    <a:pt x="0" y="1587493"/>
                    <a:pt x="0" y="1582671"/>
                  </a:cubicBezTo>
                  <a:lnTo>
                    <a:pt x="0" y="8731"/>
                  </a:lnTo>
                  <a:cubicBezTo>
                    <a:pt x="0" y="3909"/>
                    <a:pt x="3909" y="0"/>
                    <a:pt x="8731"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2819472" cy="1639027"/>
            </a:xfrm>
            <a:prstGeom prst="rect">
              <a:avLst/>
            </a:prstGeom>
          </p:spPr>
          <p:txBody>
            <a:bodyPr anchor="ctr" rtlCol="false" tIns="254000" lIns="254000" bIns="254000" rIns="254000"/>
            <a:lstStyle/>
            <a:p>
              <a:pPr algn="just" marL="734066" indent="-367033" lvl="1">
                <a:lnSpc>
                  <a:spcPts val="4420"/>
                </a:lnSpc>
                <a:buAutoNum type="arabicPeriod" startAt="1"/>
              </a:pPr>
              <a:r>
                <a:rPr lang="en-US" b="true" sz="3400">
                  <a:solidFill>
                    <a:srgbClr val="000000"/>
                  </a:solidFill>
                  <a:latin typeface="Asap Bold"/>
                  <a:ea typeface="Asap Bold"/>
                  <a:cs typeface="Asap Bold"/>
                  <a:sym typeface="Asap Bold"/>
                </a:rPr>
                <a:t>Usability</a:t>
              </a:r>
            </a:p>
            <a:p>
              <a:pPr algn="just" marL="690887" indent="-345444" lvl="1">
                <a:lnSpc>
                  <a:spcPts val="4160"/>
                </a:lnSpc>
                <a:buFont typeface="Arial"/>
                <a:buChar char="•"/>
              </a:pPr>
              <a:r>
                <a:rPr lang="en-US" sz="3200">
                  <a:solidFill>
                    <a:srgbClr val="000000"/>
                  </a:solidFill>
                  <a:latin typeface="Asap"/>
                  <a:ea typeface="Asap"/>
                  <a:cs typeface="Asap"/>
                  <a:sym typeface="Asap"/>
                </a:rPr>
                <a:t>User Authentication:</a:t>
              </a:r>
            </a:p>
            <a:p>
              <a:pPr algn="just">
                <a:lnSpc>
                  <a:spcPts val="4160"/>
                </a:lnSpc>
              </a:pPr>
              <a:r>
                <a:rPr lang="en-US" sz="3200">
                  <a:solidFill>
                    <a:srgbClr val="000000"/>
                  </a:solidFill>
                  <a:latin typeface="Asap"/>
                  <a:ea typeface="Asap"/>
                  <a:cs typeface="Asap"/>
                  <a:sym typeface="Asap"/>
                </a:rPr>
                <a:t> Đảm bảo người dùng có thể đăng ký và đăng nhập dễ dàng, hệ thống xử lý đúng các trường hợp hợp lệ và không hợp lệ. Thông báo lỗi (email đã tồn tại, sai thông tin đăng nhập) phải rõ ràng, thân thiện, không làm mất dữ liệu đã nhập và không chuyển hướng ngoài ý muốn. Trạng thái đăng nhập được hiển thị trực quan sau khi đăng nhập thành công.</a:t>
              </a:r>
            </a:p>
            <a:p>
              <a:pPr algn="just" marL="690887" indent="-345444" lvl="1">
                <a:lnSpc>
                  <a:spcPts val="4160"/>
                </a:lnSpc>
                <a:buFont typeface="Arial"/>
                <a:buChar char="•"/>
              </a:pPr>
              <a:r>
                <a:rPr lang="en-US" sz="3200">
                  <a:solidFill>
                    <a:srgbClr val="000000"/>
                  </a:solidFill>
                  <a:latin typeface="Asap"/>
                  <a:ea typeface="Asap"/>
                  <a:cs typeface="Asap"/>
                  <a:sym typeface="Asap"/>
                </a:rPr>
                <a:t>Menu Exploration &amp; Selection:</a:t>
              </a:r>
            </a:p>
            <a:p>
              <a:pPr algn="just">
                <a:lnSpc>
                  <a:spcPts val="4160"/>
                </a:lnSpc>
              </a:pPr>
              <a:r>
                <a:rPr lang="en-US" sz="3200">
                  <a:solidFill>
                    <a:srgbClr val="000000"/>
                  </a:solidFill>
                  <a:latin typeface="Asap"/>
                  <a:ea typeface="Asap"/>
                  <a:cs typeface="Asap"/>
                  <a:sym typeface="Asap"/>
                </a:rPr>
                <a:t> Người dùng có thể lọc món theo danh mục, bỏ lọc để xem toàn bộ menu, thao tác mượt mà không cần tải lại trang. Việc thêm món vào giỏ và điều chỉnh số lượng phản hồi ngay lập tức, hiển thị rõ ràng trên thẻ món và biểu tượng giỏ hàng.</a:t>
              </a:r>
            </a:p>
            <a:p>
              <a:pPr algn="just" marL="690887" indent="-345444" lvl="1">
                <a:lnSpc>
                  <a:spcPts val="4160"/>
                </a:lnSpc>
                <a:buFont typeface="Arial"/>
                <a:buChar char="•"/>
              </a:pPr>
              <a:r>
                <a:rPr lang="en-US" sz="3200">
                  <a:solidFill>
                    <a:srgbClr val="000000"/>
                  </a:solidFill>
                  <a:latin typeface="Asap"/>
                  <a:ea typeface="Asap"/>
                  <a:cs typeface="Asap"/>
                  <a:sym typeface="Asap"/>
                </a:rPr>
                <a:t>Cart Management:</a:t>
              </a:r>
            </a:p>
            <a:p>
              <a:pPr algn="just">
                <a:lnSpc>
                  <a:spcPts val="4160"/>
                </a:lnSpc>
              </a:pPr>
              <a:r>
                <a:rPr lang="en-US" sz="3200">
                  <a:solidFill>
                    <a:srgbClr val="000000"/>
                  </a:solidFill>
                  <a:latin typeface="Asap"/>
                  <a:ea typeface="Asap"/>
                  <a:cs typeface="Asap"/>
                  <a:sym typeface="Asap"/>
                </a:rPr>
                <a:t> Giỏ hàng hiển thị đầy đủ thông tin món, số lượng, giá và tổng tiền. Người dùng có thể xóa món, tổng tiền cập nhật chính xác và dễ dàng chuyển sang bước thanh toán thông qua nút checkout rõ ràng.</a:t>
              </a:r>
            </a:p>
            <a:p>
              <a:pPr algn="just" marL="690887" indent="-345444" lvl="1">
                <a:lnSpc>
                  <a:spcPts val="4160"/>
                </a:lnSpc>
                <a:buFont typeface="Arial"/>
                <a:buChar char="•"/>
              </a:pPr>
              <a:r>
                <a:rPr lang="en-US" sz="3200">
                  <a:solidFill>
                    <a:srgbClr val="000000"/>
                  </a:solidFill>
                  <a:latin typeface="Asap"/>
                  <a:ea typeface="Asap"/>
                  <a:cs typeface="Asap"/>
                  <a:sym typeface="Asap"/>
                </a:rPr>
                <a:t>Checkout &amp; Order Placement:</a:t>
              </a:r>
            </a:p>
            <a:p>
              <a:pPr algn="just">
                <a:lnSpc>
                  <a:spcPts val="4160"/>
                </a:lnSpc>
              </a:pPr>
              <a:r>
                <a:rPr lang="en-US" sz="3200">
                  <a:solidFill>
                    <a:srgbClr val="000000"/>
                  </a:solidFill>
                  <a:latin typeface="Asap"/>
                  <a:ea typeface="Asap"/>
                  <a:cs typeface="Asap"/>
                  <a:sym typeface="Asap"/>
                </a:rPr>
                <a:t> Hệ thống kiểm tra thông tin giao hàng bắt buộc, hiển thị lỗi trực quan khi thiếu dữ liệu. Khi đặt hàng thành công, người dùng được chuyển hướng đúng luồng, và đơn hàng xuất hiện trong lịch sử với trạng thái rõ ràng, dễ theo dõi.</a:t>
              </a:r>
            </a:p>
          </p:txBody>
        </p:sp>
      </p:grpSp>
      <p:sp>
        <p:nvSpPr>
          <p:cNvPr name="TextBox 5" id="5"/>
          <p:cNvSpPr txBox="true"/>
          <p:nvPr/>
        </p:nvSpPr>
        <p:spPr>
          <a:xfrm rot="0">
            <a:off x="16438573" y="21590"/>
            <a:ext cx="5904379" cy="1007110"/>
          </a:xfrm>
          <a:prstGeom prst="rect">
            <a:avLst/>
          </a:prstGeom>
        </p:spPr>
        <p:txBody>
          <a:bodyPr anchor="t" rtlCol="false" tIns="0" lIns="0" bIns="0" rIns="0">
            <a:spAutoFit/>
          </a:bodyPr>
          <a:lstStyle/>
          <a:p>
            <a:pPr algn="l">
              <a:lnSpc>
                <a:spcPts val="8060"/>
              </a:lnSpc>
            </a:pPr>
            <a:r>
              <a:rPr lang="en-US" b="true" sz="6200">
                <a:solidFill>
                  <a:srgbClr val="F8CAB9">
                    <a:alpha val="0"/>
                  </a:srgbClr>
                </a:solidFill>
                <a:latin typeface="Asap Bold"/>
                <a:ea typeface="Asap Bold"/>
                <a:cs typeface="Asap Bold"/>
                <a:sym typeface="Asap Bold"/>
              </a:rPr>
              <a:t>.</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FE9E4"/>
        </a:solidFill>
      </p:bgPr>
    </p:bg>
    <p:spTree>
      <p:nvGrpSpPr>
        <p:cNvPr id="1" name=""/>
        <p:cNvGrpSpPr/>
        <p:nvPr/>
      </p:nvGrpSpPr>
      <p:grpSpPr>
        <a:xfrm>
          <a:off x="0" y="0"/>
          <a:ext cx="0" cy="0"/>
          <a:chOff x="0" y="0"/>
          <a:chExt cx="0" cy="0"/>
        </a:xfrm>
      </p:grpSpPr>
      <p:grpSp>
        <p:nvGrpSpPr>
          <p:cNvPr name="Group 2" id="2"/>
          <p:cNvGrpSpPr/>
          <p:nvPr/>
        </p:nvGrpSpPr>
        <p:grpSpPr>
          <a:xfrm rot="0">
            <a:off x="276842" y="908208"/>
            <a:ext cx="17734315" cy="8350092"/>
            <a:chOff x="0" y="0"/>
            <a:chExt cx="2819472" cy="1327531"/>
          </a:xfrm>
        </p:grpSpPr>
        <p:sp>
          <p:nvSpPr>
            <p:cNvPr name="Freeform 3" id="3"/>
            <p:cNvSpPr/>
            <p:nvPr/>
          </p:nvSpPr>
          <p:spPr>
            <a:xfrm flipH="false" flipV="false" rot="0">
              <a:off x="0" y="0"/>
              <a:ext cx="2819472" cy="1327531"/>
            </a:xfrm>
            <a:custGeom>
              <a:avLst/>
              <a:gdLst/>
              <a:ahLst/>
              <a:cxnLst/>
              <a:rect r="r" b="b" t="t" l="l"/>
              <a:pathLst>
                <a:path h="1327531" w="2819472">
                  <a:moveTo>
                    <a:pt x="8731" y="0"/>
                  </a:moveTo>
                  <a:lnTo>
                    <a:pt x="2810741" y="0"/>
                  </a:lnTo>
                  <a:cubicBezTo>
                    <a:pt x="2815563" y="0"/>
                    <a:pt x="2819472" y="3909"/>
                    <a:pt x="2819472" y="8731"/>
                  </a:cubicBezTo>
                  <a:lnTo>
                    <a:pt x="2819472" y="1318800"/>
                  </a:lnTo>
                  <a:cubicBezTo>
                    <a:pt x="2819472" y="1323622"/>
                    <a:pt x="2815563" y="1327531"/>
                    <a:pt x="2810741" y="1327531"/>
                  </a:cubicBezTo>
                  <a:lnTo>
                    <a:pt x="8731" y="1327531"/>
                  </a:lnTo>
                  <a:cubicBezTo>
                    <a:pt x="3909" y="1327531"/>
                    <a:pt x="0" y="1323622"/>
                    <a:pt x="0" y="1318800"/>
                  </a:cubicBezTo>
                  <a:lnTo>
                    <a:pt x="0" y="8731"/>
                  </a:lnTo>
                  <a:cubicBezTo>
                    <a:pt x="0" y="3909"/>
                    <a:pt x="3909" y="0"/>
                    <a:pt x="8731" y="0"/>
                  </a:cubicBezTo>
                  <a:close/>
                </a:path>
              </a:pathLst>
            </a:custGeom>
            <a:solidFill>
              <a:srgbClr val="FCFEF7"/>
            </a:solidFill>
            <a:ln w="38100" cap="sq">
              <a:solidFill>
                <a:srgbClr val="000000"/>
              </a:solidFill>
              <a:prstDash val="solid"/>
              <a:miter/>
            </a:ln>
          </p:spPr>
        </p:sp>
        <p:sp>
          <p:nvSpPr>
            <p:cNvPr name="TextBox 4" id="4"/>
            <p:cNvSpPr txBox="true"/>
            <p:nvPr/>
          </p:nvSpPr>
          <p:spPr>
            <a:xfrm>
              <a:off x="0" y="-57150"/>
              <a:ext cx="2819472" cy="1384681"/>
            </a:xfrm>
            <a:prstGeom prst="rect">
              <a:avLst/>
            </a:prstGeom>
          </p:spPr>
          <p:txBody>
            <a:bodyPr anchor="ctr" rtlCol="false" tIns="254000" lIns="254000" bIns="254000" rIns="254000"/>
            <a:lstStyle/>
            <a:p>
              <a:pPr algn="just" marL="798834" indent="-399417" lvl="1">
                <a:lnSpc>
                  <a:spcPts val="4810"/>
                </a:lnSpc>
                <a:buAutoNum type="arabicPeriod" startAt="1"/>
              </a:pPr>
              <a:r>
                <a:rPr lang="en-US" b="true" sz="3700">
                  <a:solidFill>
                    <a:srgbClr val="000000"/>
                  </a:solidFill>
                  <a:latin typeface="Asap Bold"/>
                  <a:ea typeface="Asap Bold"/>
                  <a:cs typeface="Asap Bold"/>
                  <a:sym typeface="Asap Bold"/>
                </a:rPr>
                <a:t>Test</a:t>
              </a:r>
              <a:r>
                <a:rPr lang="en-US" b="true" sz="3700">
                  <a:solidFill>
                    <a:srgbClr val="000000"/>
                  </a:solidFill>
                  <a:latin typeface="Asap Bold"/>
                  <a:ea typeface="Asap Bold"/>
                  <a:cs typeface="Asap Bold"/>
                  <a:sym typeface="Asap Bold"/>
                </a:rPr>
                <a:t> Strategy</a:t>
              </a:r>
              <a:r>
                <a:rPr lang="en-US" b="true" sz="3700">
                  <a:solidFill>
                    <a:srgbClr val="000000"/>
                  </a:solidFill>
                  <a:latin typeface="Asap Bold"/>
                  <a:ea typeface="Asap Bold"/>
                  <a:cs typeface="Asap Bold"/>
                  <a:sym typeface="Asap Bold"/>
                </a:rPr>
                <a:t> – Tổng quan</a:t>
              </a:r>
            </a:p>
            <a:p>
              <a:pPr algn="just" marL="734066" indent="-367033" lvl="1">
                <a:lnSpc>
                  <a:spcPts val="4420"/>
                </a:lnSpc>
                <a:buFont typeface="Arial"/>
                <a:buChar char="•"/>
              </a:pPr>
              <a:r>
                <a:rPr lang="en-US" sz="3400">
                  <a:solidFill>
                    <a:srgbClr val="000000"/>
                  </a:solidFill>
                  <a:latin typeface="Asap"/>
                  <a:ea typeface="Asap"/>
                  <a:cs typeface="Asap"/>
                  <a:sym typeface="Asap"/>
                </a:rPr>
                <a:t>Hệ thống áp dụng nhiều loại kiểm thử nhằm đảm bảo chất lượng toàn diện: Function &amp; Usability Testing (xác minh chức năng, điều hướng, xử lý dữ liệu và thông báo lỗi), Interface Testing (kiểm tra giao tiếp Frontend–Backend–Database–dịch vụ ngoài), Compatibility Testing (đảm bảo hoạt động ổn định trên nhiều trình duyệt và hệ điều hành), Database Testing (tính chính xác và nhất quán dữ liệu) và Performance Testing (đánh giá khả năng đáp ứng, chịu tải).</a:t>
              </a:r>
            </a:p>
            <a:p>
              <a:pPr algn="just" marL="734066" indent="-367033" lvl="1">
                <a:lnSpc>
                  <a:spcPts val="4420"/>
                </a:lnSpc>
                <a:buFont typeface="Arial"/>
                <a:buChar char="•"/>
              </a:pPr>
              <a:r>
                <a:rPr lang="en-US" sz="3400">
                  <a:solidFill>
                    <a:srgbClr val="000000"/>
                  </a:solidFill>
                  <a:latin typeface="Asap"/>
                  <a:ea typeface="Asap"/>
                  <a:cs typeface="Asap"/>
                  <a:sym typeface="Asap"/>
                </a:rPr>
                <a:t>Công cụ sử dụng: JMeter cho kiểm thử hiệu năng; Python Script + Selenium cho kiểm thử cơ sở dữ liệu.</a:t>
              </a:r>
            </a:p>
            <a:p>
              <a:pPr algn="just" marL="734066" indent="-367033" lvl="1">
                <a:lnSpc>
                  <a:spcPts val="4420"/>
                </a:lnSpc>
                <a:buFont typeface="Arial"/>
                <a:buChar char="•"/>
              </a:pPr>
              <a:r>
                <a:rPr lang="en-US" sz="3400">
                  <a:solidFill>
                    <a:srgbClr val="000000"/>
                  </a:solidFill>
                  <a:latin typeface="Asap"/>
                  <a:ea typeface="Asap"/>
                  <a:cs typeface="Asap"/>
                  <a:sym typeface="Asap"/>
                </a:rPr>
                <a:t>Unit Testing: Tập trung vào các hàm nghiệp vụ cốt lõi (xác thực dữ liệu, xử lý thanh toán, lỗi Stripe), sử dụng mocking để cô lập logic; mục tiêu coverage &gt; 80%.</a:t>
              </a:r>
            </a:p>
            <a:p>
              <a:pPr algn="just" marL="734066" indent="-367033" lvl="1">
                <a:lnSpc>
                  <a:spcPts val="4420"/>
                </a:lnSpc>
                <a:buFont typeface="Arial"/>
                <a:buChar char="•"/>
              </a:pPr>
              <a:r>
                <a:rPr lang="en-US" sz="3400">
                  <a:solidFill>
                    <a:srgbClr val="000000"/>
                  </a:solidFill>
                  <a:latin typeface="Asap"/>
                  <a:ea typeface="Asap"/>
                  <a:cs typeface="Asap"/>
                  <a:sym typeface="Asap"/>
                </a:rPr>
                <a:t>In</a:t>
              </a:r>
              <a:r>
                <a:rPr lang="en-US" sz="3400">
                  <a:solidFill>
                    <a:srgbClr val="000000"/>
                  </a:solidFill>
                  <a:latin typeface="Asap"/>
                  <a:ea typeface="Asap"/>
                  <a:cs typeface="Asap"/>
                  <a:sym typeface="Asap"/>
                </a:rPr>
                <a:t>tegration Testing: Kiểm tra luồng End-to-End từ đặt hàng, thanh toán Stripe đến lưu dữ liệu DB và cập nhật giỏ hàng, đảm bảo dữ liệu nhất quán và luồng nghiệp vụ hoạt động chính xác.</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191022" y="2852955"/>
            <a:ext cx="4939608" cy="3175634"/>
            <a:chOff x="0" y="0"/>
            <a:chExt cx="885122" cy="569038"/>
          </a:xfrm>
        </p:grpSpPr>
        <p:sp>
          <p:nvSpPr>
            <p:cNvPr name="Freeform 3" id="3"/>
            <p:cNvSpPr/>
            <p:nvPr/>
          </p:nvSpPr>
          <p:spPr>
            <a:xfrm flipH="false" flipV="false" rot="0">
              <a:off x="0" y="0"/>
              <a:ext cx="885122" cy="569038"/>
            </a:xfrm>
            <a:custGeom>
              <a:avLst/>
              <a:gdLst/>
              <a:ahLst/>
              <a:cxnLst/>
              <a:rect r="r" b="b" t="t" l="l"/>
              <a:pathLst>
                <a:path h="569038" w="885122">
                  <a:moveTo>
                    <a:pt x="31346" y="0"/>
                  </a:moveTo>
                  <a:lnTo>
                    <a:pt x="853776" y="0"/>
                  </a:lnTo>
                  <a:cubicBezTo>
                    <a:pt x="871088" y="0"/>
                    <a:pt x="885122" y="14034"/>
                    <a:pt x="885122" y="31346"/>
                  </a:cubicBezTo>
                  <a:lnTo>
                    <a:pt x="885122" y="537692"/>
                  </a:lnTo>
                  <a:cubicBezTo>
                    <a:pt x="885122" y="546005"/>
                    <a:pt x="881819" y="553978"/>
                    <a:pt x="875941" y="559857"/>
                  </a:cubicBezTo>
                  <a:cubicBezTo>
                    <a:pt x="870062" y="565735"/>
                    <a:pt x="862089" y="569038"/>
                    <a:pt x="853776" y="569038"/>
                  </a:cubicBezTo>
                  <a:lnTo>
                    <a:pt x="31346" y="569038"/>
                  </a:lnTo>
                  <a:cubicBezTo>
                    <a:pt x="23033" y="569038"/>
                    <a:pt x="15060" y="565735"/>
                    <a:pt x="9181" y="559857"/>
                  </a:cubicBezTo>
                  <a:cubicBezTo>
                    <a:pt x="3303" y="553978"/>
                    <a:pt x="0" y="546005"/>
                    <a:pt x="0" y="537692"/>
                  </a:cubicBezTo>
                  <a:lnTo>
                    <a:pt x="0" y="31346"/>
                  </a:lnTo>
                  <a:cubicBezTo>
                    <a:pt x="0" y="23033"/>
                    <a:pt x="3303" y="15060"/>
                    <a:pt x="9181" y="9181"/>
                  </a:cubicBezTo>
                  <a:cubicBezTo>
                    <a:pt x="15060" y="3303"/>
                    <a:pt x="23033" y="0"/>
                    <a:pt x="31346" y="0"/>
                  </a:cubicBezTo>
                  <a:close/>
                </a:path>
              </a:pathLst>
            </a:custGeom>
            <a:solidFill>
              <a:srgbClr val="FCFEF7"/>
            </a:solidFill>
            <a:ln w="38100" cap="sq">
              <a:solidFill>
                <a:srgbClr val="000000"/>
              </a:solidFill>
              <a:prstDash val="solid"/>
              <a:miter/>
            </a:ln>
          </p:spPr>
        </p:sp>
        <p:sp>
          <p:nvSpPr>
            <p:cNvPr name="TextBox 4" id="4"/>
            <p:cNvSpPr txBox="true"/>
            <p:nvPr/>
          </p:nvSpPr>
          <p:spPr>
            <a:xfrm>
              <a:off x="0" y="-57150"/>
              <a:ext cx="885122" cy="626188"/>
            </a:xfrm>
            <a:prstGeom prst="rect">
              <a:avLst/>
            </a:prstGeom>
          </p:spPr>
          <p:txBody>
            <a:bodyPr anchor="ctr" rtlCol="false" tIns="50800" lIns="50800" bIns="50800" rIns="50800"/>
            <a:lstStyle/>
            <a:p>
              <a:pPr algn="ctr" marL="0" indent="0" lvl="1">
                <a:lnSpc>
                  <a:spcPts val="7539"/>
                </a:lnSpc>
                <a:spcBef>
                  <a:spcPct val="0"/>
                </a:spcBef>
              </a:pPr>
              <a:r>
                <a:rPr lang="en-US" b="true" sz="5799">
                  <a:solidFill>
                    <a:srgbClr val="000000"/>
                  </a:solidFill>
                  <a:latin typeface="Asap Bold"/>
                  <a:ea typeface="Asap Bold"/>
                  <a:cs typeface="Asap Bold"/>
                  <a:sym typeface="Asap Bold"/>
                </a:rPr>
                <a:t> PHƯƠNG PHÁP KIỂM</a:t>
              </a:r>
              <a:r>
                <a:rPr lang="en-US" b="true" sz="5799">
                  <a:solidFill>
                    <a:srgbClr val="000000"/>
                  </a:solidFill>
                  <a:latin typeface="Asap Bold"/>
                  <a:ea typeface="Asap Bold"/>
                  <a:cs typeface="Asap Bold"/>
                  <a:sym typeface="Asap Bold"/>
                </a:rPr>
                <a:t> THỬ</a:t>
              </a:r>
            </a:p>
          </p:txBody>
        </p:sp>
      </p:grpSp>
      <p:sp>
        <p:nvSpPr>
          <p:cNvPr name="Freeform 5" id="5"/>
          <p:cNvSpPr/>
          <p:nvPr/>
        </p:nvSpPr>
        <p:spPr>
          <a:xfrm flipH="false" flipV="false" rot="0">
            <a:off x="5723314" y="326729"/>
            <a:ext cx="11946205" cy="9633542"/>
          </a:xfrm>
          <a:custGeom>
            <a:avLst/>
            <a:gdLst/>
            <a:ahLst/>
            <a:cxnLst/>
            <a:rect r="r" b="b" t="t" l="l"/>
            <a:pathLst>
              <a:path h="9633542" w="11946205">
                <a:moveTo>
                  <a:pt x="0" y="0"/>
                </a:moveTo>
                <a:lnTo>
                  <a:pt x="11946205" y="0"/>
                </a:lnTo>
                <a:lnTo>
                  <a:pt x="11946205" y="9633542"/>
                </a:lnTo>
                <a:lnTo>
                  <a:pt x="0" y="9633542"/>
                </a:lnTo>
                <a:lnTo>
                  <a:pt x="0" y="0"/>
                </a:lnTo>
                <a:close/>
              </a:path>
            </a:pathLst>
          </a:custGeom>
          <a:blipFill>
            <a:blip r:embed="rId2"/>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276842" y="390048"/>
            <a:ext cx="17734315" cy="9506903"/>
            <a:chOff x="0" y="0"/>
            <a:chExt cx="2819472" cy="1511445"/>
          </a:xfrm>
        </p:grpSpPr>
        <p:sp>
          <p:nvSpPr>
            <p:cNvPr name="Freeform 3" id="3"/>
            <p:cNvSpPr/>
            <p:nvPr/>
          </p:nvSpPr>
          <p:spPr>
            <a:xfrm flipH="false" flipV="false" rot="0">
              <a:off x="0" y="0"/>
              <a:ext cx="2819472" cy="1511446"/>
            </a:xfrm>
            <a:custGeom>
              <a:avLst/>
              <a:gdLst/>
              <a:ahLst/>
              <a:cxnLst/>
              <a:rect r="r" b="b" t="t" l="l"/>
              <a:pathLst>
                <a:path h="1511446" w="2819472">
                  <a:moveTo>
                    <a:pt x="8731" y="0"/>
                  </a:moveTo>
                  <a:lnTo>
                    <a:pt x="2810741" y="0"/>
                  </a:lnTo>
                  <a:cubicBezTo>
                    <a:pt x="2815563" y="0"/>
                    <a:pt x="2819472" y="3909"/>
                    <a:pt x="2819472" y="8731"/>
                  </a:cubicBezTo>
                  <a:lnTo>
                    <a:pt x="2819472" y="1502715"/>
                  </a:lnTo>
                  <a:cubicBezTo>
                    <a:pt x="2819472" y="1507537"/>
                    <a:pt x="2815563" y="1511446"/>
                    <a:pt x="2810741" y="1511446"/>
                  </a:cubicBezTo>
                  <a:lnTo>
                    <a:pt x="8731" y="1511446"/>
                  </a:lnTo>
                  <a:cubicBezTo>
                    <a:pt x="3909" y="1511446"/>
                    <a:pt x="0" y="1507537"/>
                    <a:pt x="0" y="1502715"/>
                  </a:cubicBezTo>
                  <a:lnTo>
                    <a:pt x="0" y="8731"/>
                  </a:lnTo>
                  <a:cubicBezTo>
                    <a:pt x="0" y="3909"/>
                    <a:pt x="3909" y="0"/>
                    <a:pt x="8731" y="0"/>
                  </a:cubicBezTo>
                  <a:close/>
                </a:path>
              </a:pathLst>
            </a:custGeom>
            <a:solidFill>
              <a:srgbClr val="FCFEF7"/>
            </a:solidFill>
            <a:ln w="38100" cap="sq">
              <a:solidFill>
                <a:srgbClr val="000000"/>
              </a:solidFill>
              <a:prstDash val="solid"/>
              <a:miter/>
            </a:ln>
          </p:spPr>
        </p:sp>
        <p:sp>
          <p:nvSpPr>
            <p:cNvPr name="TextBox 4" id="4"/>
            <p:cNvSpPr txBox="true"/>
            <p:nvPr/>
          </p:nvSpPr>
          <p:spPr>
            <a:xfrm>
              <a:off x="0" y="-47625"/>
              <a:ext cx="2819472" cy="1559070"/>
            </a:xfrm>
            <a:prstGeom prst="rect">
              <a:avLst/>
            </a:prstGeom>
          </p:spPr>
          <p:txBody>
            <a:bodyPr anchor="ctr" rtlCol="false" tIns="254000" lIns="254000" bIns="254000" rIns="254000"/>
            <a:lstStyle/>
            <a:p>
              <a:pPr algn="just">
                <a:lnSpc>
                  <a:spcPts val="5200"/>
                </a:lnSpc>
              </a:pPr>
              <a:r>
                <a:rPr lang="en-US" b="true" sz="4000">
                  <a:solidFill>
                    <a:srgbClr val="000000"/>
                  </a:solidFill>
                  <a:latin typeface="Asap Bold"/>
                  <a:ea typeface="Asap Bold"/>
                  <a:cs typeface="Asap Bold"/>
                  <a:sym typeface="Asap Bold"/>
                </a:rPr>
                <a:t>V-Model – Tổng quan &amp; các cặp giai đoạn</a:t>
              </a:r>
            </a:p>
            <a:p>
              <a:pPr algn="just" marL="734066" indent="-367033" lvl="1">
                <a:lnSpc>
                  <a:spcPts val="4420"/>
                </a:lnSpc>
                <a:buAutoNum type="arabicPeriod" startAt="1"/>
              </a:pPr>
              <a:r>
                <a:rPr lang="en-US" sz="3400">
                  <a:solidFill>
                    <a:srgbClr val="000000"/>
                  </a:solidFill>
                  <a:latin typeface="Asap"/>
                  <a:ea typeface="Asap"/>
                  <a:cs typeface="Asap"/>
                  <a:sym typeface="Asap"/>
                </a:rPr>
                <a:t>V-Model có dạng chữ V với hai nhánh chính: Verification (trái) tập trung phân tích yêu cầu và thiết kế bởi Developer, Validation (phải) tập trung kiểm thử và xác nhận sản phẩm bởi Tester; Coding nằm ở đáy, hiện thực hệ thống (React, NodeJS).</a:t>
              </a:r>
            </a:p>
            <a:p>
              <a:pPr algn="just" marL="734066" indent="-367033" lvl="1">
                <a:lnSpc>
                  <a:spcPts val="4420"/>
                </a:lnSpc>
                <a:buAutoNum type="arabicPeriod" startAt="1"/>
              </a:pPr>
              <a:r>
                <a:rPr lang="en-US" sz="3400">
                  <a:solidFill>
                    <a:srgbClr val="000000"/>
                  </a:solidFill>
                  <a:latin typeface="Asap"/>
                  <a:ea typeface="Asap"/>
                  <a:cs typeface="Asap"/>
                  <a:sym typeface="Asap"/>
                </a:rPr>
                <a:t>Các cặp giai đoạn đối xứng:</a:t>
              </a:r>
            </a:p>
            <a:p>
              <a:pPr algn="just" marL="734066" indent="-367033" lvl="1">
                <a:lnSpc>
                  <a:spcPts val="4420"/>
                </a:lnSpc>
                <a:buFont typeface="Arial"/>
                <a:buChar char="•"/>
              </a:pPr>
              <a:r>
                <a:rPr lang="en-US" sz="3400">
                  <a:solidFill>
                    <a:srgbClr val="000000"/>
                  </a:solidFill>
                  <a:latin typeface="Asap"/>
                  <a:ea typeface="Asap"/>
                  <a:cs typeface="Asap"/>
                  <a:sym typeface="Asap"/>
                </a:rPr>
                <a:t>Business Requirement Specification ↔ Acceptance Testing: Đảm bảo hệ thống đáp ứng đúng yêu cầu nghiệp vụ và mong đợi người dùng.</a:t>
              </a:r>
            </a:p>
            <a:p>
              <a:pPr algn="just" marL="734066" indent="-367033" lvl="1">
                <a:lnSpc>
                  <a:spcPts val="4420"/>
                </a:lnSpc>
                <a:buFont typeface="Arial"/>
                <a:buChar char="•"/>
              </a:pPr>
              <a:r>
                <a:rPr lang="en-US" sz="3400">
                  <a:solidFill>
                    <a:srgbClr val="000000"/>
                  </a:solidFill>
                  <a:latin typeface="Asap"/>
                  <a:ea typeface="Asap"/>
                  <a:cs typeface="Asap"/>
                  <a:sym typeface="Asap"/>
                </a:rPr>
                <a:t>System Requirement Specification ↔ System Testing: Kiểm thử toàn bộ hệ thống theo đặc tả chức năng và phi chức năng.</a:t>
              </a:r>
            </a:p>
            <a:p>
              <a:pPr algn="just" marL="734066" indent="-367033" lvl="1">
                <a:lnSpc>
                  <a:spcPts val="4420"/>
                </a:lnSpc>
                <a:buFont typeface="Arial"/>
                <a:buChar char="•"/>
              </a:pPr>
              <a:r>
                <a:rPr lang="en-US" sz="3400">
                  <a:solidFill>
                    <a:srgbClr val="000000"/>
                  </a:solidFill>
                  <a:latin typeface="Asap"/>
                  <a:ea typeface="Asap"/>
                  <a:cs typeface="Asap"/>
                  <a:sym typeface="Asap"/>
                </a:rPr>
                <a:t>High Level Design ↔ Integration Testing: Kiểm tra tích hợp và giao tiếp giữa các module.</a:t>
              </a:r>
            </a:p>
            <a:p>
              <a:pPr algn="just" marL="734066" indent="-367033" lvl="1">
                <a:lnSpc>
                  <a:spcPts val="4420"/>
                </a:lnSpc>
                <a:buFont typeface="Arial"/>
                <a:buChar char="•"/>
              </a:pPr>
              <a:r>
                <a:rPr lang="en-US" sz="3400">
                  <a:solidFill>
                    <a:srgbClr val="000000"/>
                  </a:solidFill>
                  <a:latin typeface="Asap"/>
                  <a:ea typeface="Asap"/>
                  <a:cs typeface="Asap"/>
                  <a:sym typeface="Asap"/>
                </a:rPr>
                <a:t>Low Level Design ↔ Unit Testing: Kiểm thử từng đơn vị nhỏ nhất (function/class) độc lập.</a:t>
              </a:r>
            </a:p>
            <a:p>
              <a:pPr algn="just" marL="734066" indent="-367033" lvl="1">
                <a:lnSpc>
                  <a:spcPts val="4420"/>
                </a:lnSpc>
                <a:buFont typeface="Arial"/>
                <a:buChar char="•"/>
              </a:pPr>
              <a:r>
                <a:rPr lang="en-US" sz="3400">
                  <a:solidFill>
                    <a:srgbClr val="000000"/>
                  </a:solidFill>
                  <a:latin typeface="Asap"/>
                  <a:ea typeface="Asap"/>
                  <a:cs typeface="Asap"/>
                  <a:sym typeface="Asap"/>
                </a:rPr>
                <a:t>Ý nghĩa chính: Test case được thiết kế song song từ sớm, sau Coding tiến hành kiểm thử theo thứ tự Unit → Integration → System → Acceptance, giúp phát hiện lỗi sớm và đảm bảo chất lượng toàn diện.</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CEF1FF"/>
        </a:solidFill>
      </p:bgPr>
    </p:bg>
    <p:spTree>
      <p:nvGrpSpPr>
        <p:cNvPr id="1" name=""/>
        <p:cNvGrpSpPr/>
        <p:nvPr/>
      </p:nvGrpSpPr>
      <p:grpSpPr>
        <a:xfrm>
          <a:off x="0" y="0"/>
          <a:ext cx="0" cy="0"/>
          <a:chOff x="0" y="0"/>
          <a:chExt cx="0" cy="0"/>
        </a:xfrm>
      </p:grpSpPr>
      <p:grpSp>
        <p:nvGrpSpPr>
          <p:cNvPr name="Group 2" id="2"/>
          <p:cNvGrpSpPr/>
          <p:nvPr/>
        </p:nvGrpSpPr>
        <p:grpSpPr>
          <a:xfrm rot="0">
            <a:off x="304057" y="434340"/>
            <a:ext cx="8046030" cy="9233535"/>
            <a:chOff x="0" y="0"/>
            <a:chExt cx="1279190" cy="1467984"/>
          </a:xfrm>
        </p:grpSpPr>
        <p:sp>
          <p:nvSpPr>
            <p:cNvPr name="Freeform 3" id="3"/>
            <p:cNvSpPr/>
            <p:nvPr/>
          </p:nvSpPr>
          <p:spPr>
            <a:xfrm flipH="false" flipV="false" rot="0">
              <a:off x="0" y="0"/>
              <a:ext cx="1279190" cy="1467984"/>
            </a:xfrm>
            <a:custGeom>
              <a:avLst/>
              <a:gdLst/>
              <a:ahLst/>
              <a:cxnLst/>
              <a:rect r="r" b="b" t="t" l="l"/>
              <a:pathLst>
                <a:path h="1467984" w="1279190">
                  <a:moveTo>
                    <a:pt x="19244" y="0"/>
                  </a:moveTo>
                  <a:lnTo>
                    <a:pt x="1259946" y="0"/>
                  </a:lnTo>
                  <a:cubicBezTo>
                    <a:pt x="1270574" y="0"/>
                    <a:pt x="1279190" y="8616"/>
                    <a:pt x="1279190" y="19244"/>
                  </a:cubicBezTo>
                  <a:lnTo>
                    <a:pt x="1279190" y="1448740"/>
                  </a:lnTo>
                  <a:cubicBezTo>
                    <a:pt x="1279190" y="1453844"/>
                    <a:pt x="1277162" y="1458739"/>
                    <a:pt x="1273553" y="1462348"/>
                  </a:cubicBezTo>
                  <a:cubicBezTo>
                    <a:pt x="1269944" y="1465957"/>
                    <a:pt x="1265050" y="1467984"/>
                    <a:pt x="1259946" y="1467984"/>
                  </a:cubicBezTo>
                  <a:lnTo>
                    <a:pt x="19244" y="1467984"/>
                  </a:lnTo>
                  <a:cubicBezTo>
                    <a:pt x="14140" y="1467984"/>
                    <a:pt x="9245" y="1465957"/>
                    <a:pt x="5636" y="1462348"/>
                  </a:cubicBezTo>
                  <a:cubicBezTo>
                    <a:pt x="2027" y="1458739"/>
                    <a:pt x="0" y="1453844"/>
                    <a:pt x="0" y="1448740"/>
                  </a:cubicBezTo>
                  <a:lnTo>
                    <a:pt x="0" y="19244"/>
                  </a:lnTo>
                  <a:cubicBezTo>
                    <a:pt x="0" y="14140"/>
                    <a:pt x="2027" y="9245"/>
                    <a:pt x="5636" y="5636"/>
                  </a:cubicBezTo>
                  <a:cubicBezTo>
                    <a:pt x="9245" y="2027"/>
                    <a:pt x="14140" y="0"/>
                    <a:pt x="19244" y="0"/>
                  </a:cubicBezTo>
                  <a:close/>
                </a:path>
              </a:pathLst>
            </a:custGeom>
            <a:solidFill>
              <a:srgbClr val="FCFEF7"/>
            </a:solidFill>
            <a:ln w="38100" cap="sq">
              <a:solidFill>
                <a:srgbClr val="000000"/>
              </a:solidFill>
              <a:prstDash val="solid"/>
              <a:miter/>
            </a:ln>
          </p:spPr>
        </p:sp>
        <p:sp>
          <p:nvSpPr>
            <p:cNvPr name="TextBox 4" id="4"/>
            <p:cNvSpPr txBox="true"/>
            <p:nvPr/>
          </p:nvSpPr>
          <p:spPr>
            <a:xfrm>
              <a:off x="0" y="-38100"/>
              <a:ext cx="1279190" cy="1506084"/>
            </a:xfrm>
            <a:prstGeom prst="rect">
              <a:avLst/>
            </a:prstGeom>
          </p:spPr>
          <p:txBody>
            <a:bodyPr anchor="ctr" rtlCol="false" tIns="254000" lIns="254000" bIns="254000" rIns="254000"/>
            <a:lstStyle/>
            <a:p>
              <a:pPr algn="just">
                <a:lnSpc>
                  <a:spcPts val="4939"/>
                </a:lnSpc>
              </a:pPr>
              <a:r>
                <a:rPr lang="en-US" sz="3799" b="true">
                  <a:solidFill>
                    <a:srgbClr val="000000"/>
                  </a:solidFill>
                  <a:latin typeface="Asap Bold"/>
                  <a:ea typeface="Asap Bold"/>
                  <a:cs typeface="Asap Bold"/>
                  <a:sym typeface="Asap Bold"/>
                </a:rPr>
                <a:t>Triển kha</a:t>
              </a:r>
              <a:r>
                <a:rPr lang="en-US" sz="3799" b="true">
                  <a:solidFill>
                    <a:srgbClr val="000000"/>
                  </a:solidFill>
                  <a:latin typeface="Asap Bold"/>
                  <a:ea typeface="Asap Bold"/>
                  <a:cs typeface="Asap Bold"/>
                  <a:sym typeface="Asap Bold"/>
                </a:rPr>
                <a:t>i</a:t>
              </a:r>
              <a:r>
                <a:rPr lang="en-US" sz="3799" b="true">
                  <a:solidFill>
                    <a:srgbClr val="000000"/>
                  </a:solidFill>
                  <a:latin typeface="Asap Bold"/>
                  <a:ea typeface="Asap Bold"/>
                  <a:cs typeface="Asap Bold"/>
                  <a:sym typeface="Asap Bold"/>
                </a:rPr>
                <a:t> CI/CD với GitHub Actions</a:t>
              </a:r>
            </a:p>
            <a:p>
              <a:pPr algn="just">
                <a:lnSpc>
                  <a:spcPts val="4939"/>
                </a:lnSpc>
              </a:pPr>
              <a:r>
                <a:rPr lang="en-US" sz="3799">
                  <a:solidFill>
                    <a:srgbClr val="000000"/>
                  </a:solidFill>
                  <a:latin typeface="Asap"/>
                  <a:ea typeface="Asap"/>
                  <a:cs typeface="Asap"/>
                  <a:sym typeface="Asap"/>
                </a:rPr>
                <a:t>Hệ thống CI/CD được triển khai bằng GitHub Actions, cho phép tự động hóa toàn bộ quy trình build, test và deploy ngay trong GitHub Repos</a:t>
              </a:r>
              <a:r>
                <a:rPr lang="en-US" sz="3799">
                  <a:solidFill>
                    <a:srgbClr val="000000"/>
                  </a:solidFill>
                  <a:latin typeface="Asap"/>
                  <a:ea typeface="Asap"/>
                  <a:cs typeface="Asap"/>
                  <a:sym typeface="Asap"/>
                </a:rPr>
                <a:t>itory. Trọng tâm của GitHub Actions là workflow, các quy trình tự động được cấu hình bằng file YAML. Workflow có thể thiết lập để chạy test cho mỗi pull request và tự động triển khai mã sau khi được hợp nhất, giúp tích hợp CI/CD liền mạch vào quy trình phát triển và đảm bảo chất lượng phần mềm.</a:t>
              </a:r>
            </a:p>
          </p:txBody>
        </p:sp>
      </p:grpSp>
      <p:sp>
        <p:nvSpPr>
          <p:cNvPr name="Freeform 5" id="5"/>
          <p:cNvSpPr/>
          <p:nvPr/>
        </p:nvSpPr>
        <p:spPr>
          <a:xfrm flipH="false" flipV="false" rot="0">
            <a:off x="8844643" y="1244897"/>
            <a:ext cx="8995477" cy="7797205"/>
          </a:xfrm>
          <a:custGeom>
            <a:avLst/>
            <a:gdLst/>
            <a:ahLst/>
            <a:cxnLst/>
            <a:rect r="r" b="b" t="t" l="l"/>
            <a:pathLst>
              <a:path h="7797205" w="8995477">
                <a:moveTo>
                  <a:pt x="0" y="0"/>
                </a:moveTo>
                <a:lnTo>
                  <a:pt x="8995477" y="0"/>
                </a:lnTo>
                <a:lnTo>
                  <a:pt x="8995477" y="7797206"/>
                </a:lnTo>
                <a:lnTo>
                  <a:pt x="0" y="7797206"/>
                </a:lnTo>
                <a:lnTo>
                  <a:pt x="0" y="0"/>
                </a:lnTo>
                <a:close/>
              </a:path>
            </a:pathLst>
          </a:custGeom>
          <a:blipFill>
            <a:blip r:embed="rId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p:cSld>
    <p:bg>
      <p:bgPr>
        <a:solidFill>
          <a:srgbClr val="A7DDD5"/>
        </a:solidFill>
      </p:bgPr>
    </p:bg>
    <p:spTree>
      <p:nvGrpSpPr>
        <p:cNvPr id="1" name=""/>
        <p:cNvGrpSpPr/>
        <p:nvPr/>
      </p:nvGrpSpPr>
      <p:grpSpPr>
        <a:xfrm>
          <a:off x="0" y="0"/>
          <a:ext cx="0" cy="0"/>
          <a:chOff x="0" y="0"/>
          <a:chExt cx="0" cy="0"/>
        </a:xfrm>
      </p:grpSpPr>
      <p:grpSp>
        <p:nvGrpSpPr>
          <p:cNvPr name="Group 2" id="2"/>
          <p:cNvGrpSpPr/>
          <p:nvPr/>
        </p:nvGrpSpPr>
        <p:grpSpPr>
          <a:xfrm rot="0">
            <a:off x="601436" y="1206961"/>
            <a:ext cx="17085129" cy="7873078"/>
            <a:chOff x="0" y="0"/>
            <a:chExt cx="3061462" cy="1410767"/>
          </a:xfrm>
        </p:grpSpPr>
        <p:sp>
          <p:nvSpPr>
            <p:cNvPr name="Freeform 3" id="3"/>
            <p:cNvSpPr/>
            <p:nvPr/>
          </p:nvSpPr>
          <p:spPr>
            <a:xfrm flipH="false" flipV="false" rot="0">
              <a:off x="0" y="0"/>
              <a:ext cx="3061462" cy="1410767"/>
            </a:xfrm>
            <a:custGeom>
              <a:avLst/>
              <a:gdLst/>
              <a:ahLst/>
              <a:cxnLst/>
              <a:rect r="r" b="b" t="t" l="l"/>
              <a:pathLst>
                <a:path h="1410767" w="3061462">
                  <a:moveTo>
                    <a:pt x="9063" y="0"/>
                  </a:moveTo>
                  <a:lnTo>
                    <a:pt x="3052399" y="0"/>
                  </a:lnTo>
                  <a:cubicBezTo>
                    <a:pt x="3054803" y="0"/>
                    <a:pt x="3057108" y="955"/>
                    <a:pt x="3058808" y="2654"/>
                  </a:cubicBezTo>
                  <a:cubicBezTo>
                    <a:pt x="3060507" y="4354"/>
                    <a:pt x="3061462" y="6659"/>
                    <a:pt x="3061462" y="9063"/>
                  </a:cubicBezTo>
                  <a:lnTo>
                    <a:pt x="3061462" y="1401704"/>
                  </a:lnTo>
                  <a:cubicBezTo>
                    <a:pt x="3061462" y="1406709"/>
                    <a:pt x="3057405" y="1410767"/>
                    <a:pt x="3052399" y="1410767"/>
                  </a:cubicBezTo>
                  <a:lnTo>
                    <a:pt x="9063" y="1410767"/>
                  </a:lnTo>
                  <a:cubicBezTo>
                    <a:pt x="4058" y="1410767"/>
                    <a:pt x="0" y="1406709"/>
                    <a:pt x="0" y="1401704"/>
                  </a:cubicBezTo>
                  <a:lnTo>
                    <a:pt x="0" y="9063"/>
                  </a:lnTo>
                  <a:cubicBezTo>
                    <a:pt x="0" y="4058"/>
                    <a:pt x="4058" y="0"/>
                    <a:pt x="9063" y="0"/>
                  </a:cubicBezTo>
                  <a:close/>
                </a:path>
              </a:pathLst>
            </a:custGeom>
            <a:solidFill>
              <a:srgbClr val="FCFEF7"/>
            </a:solidFill>
            <a:ln w="38100" cap="sq">
              <a:solidFill>
                <a:srgbClr val="000000"/>
              </a:solidFill>
              <a:prstDash val="solid"/>
              <a:miter/>
            </a:ln>
          </p:spPr>
        </p:sp>
        <p:sp>
          <p:nvSpPr>
            <p:cNvPr name="TextBox 4" id="4"/>
            <p:cNvSpPr txBox="true"/>
            <p:nvPr/>
          </p:nvSpPr>
          <p:spPr>
            <a:xfrm>
              <a:off x="0" y="-38100"/>
              <a:ext cx="3061462" cy="1448867"/>
            </a:xfrm>
            <a:prstGeom prst="rect">
              <a:avLst/>
            </a:prstGeom>
          </p:spPr>
          <p:txBody>
            <a:bodyPr anchor="ctr" rtlCol="false" tIns="50800" lIns="50800" bIns="50800" rIns="50800"/>
            <a:lstStyle/>
            <a:p>
              <a:pPr algn="just">
                <a:lnSpc>
                  <a:spcPts val="5199"/>
                </a:lnSpc>
              </a:pPr>
              <a:r>
                <a:rPr lang="en-US" sz="3999" b="true">
                  <a:solidFill>
                    <a:srgbClr val="000000"/>
                  </a:solidFill>
                  <a:latin typeface="Asap Bold"/>
                  <a:ea typeface="Asap Bold"/>
                  <a:cs typeface="Asap Bold"/>
                  <a:sym typeface="Asap Bold"/>
                </a:rPr>
                <a:t>Static Testing</a:t>
              </a:r>
            </a:p>
            <a:p>
              <a:pPr algn="just" marL="734059" indent="-367030" lvl="1">
                <a:lnSpc>
                  <a:spcPts val="4419"/>
                </a:lnSpc>
                <a:buFont typeface="Arial"/>
                <a:buChar char="•"/>
              </a:pPr>
              <a:r>
                <a:rPr lang="en-US" sz="3399">
                  <a:solidFill>
                    <a:srgbClr val="000000"/>
                  </a:solidFill>
                  <a:latin typeface="Asap"/>
                  <a:ea typeface="Asap"/>
                  <a:cs typeface="Asap"/>
                  <a:sym typeface="Asap"/>
                </a:rPr>
                <a:t>Khái niệm &amp; Vai trò:</a:t>
              </a:r>
            </a:p>
            <a:p>
              <a:pPr algn="just">
                <a:lnSpc>
                  <a:spcPts val="4419"/>
                </a:lnSpc>
              </a:pPr>
              <a:r>
                <a:rPr lang="en-US" sz="3399">
                  <a:solidFill>
                    <a:srgbClr val="000000"/>
                  </a:solidFill>
                  <a:latin typeface="Asap"/>
                  <a:ea typeface="Asap"/>
                  <a:cs typeface="Asap"/>
                  <a:sym typeface="Asap"/>
                </a:rPr>
                <a:t> </a:t>
              </a:r>
              <a:r>
                <a:rPr lang="en-US" sz="3399">
                  <a:solidFill>
                    <a:srgbClr val="000000"/>
                  </a:solidFill>
                  <a:latin typeface="Asap"/>
                  <a:ea typeface="Asap"/>
                  <a:cs typeface="Asap"/>
                  <a:sym typeface="Asap"/>
                </a:rPr>
                <a:t>Static Testing</a:t>
              </a:r>
              <a:r>
                <a:rPr lang="en-US" sz="3399">
                  <a:solidFill>
                    <a:srgbClr val="000000"/>
                  </a:solidFill>
                  <a:latin typeface="Asap"/>
                  <a:ea typeface="Asap"/>
                  <a:cs typeface="Asap"/>
                  <a:sym typeface="Asap"/>
                </a:rPr>
                <a:t> là phương pháp</a:t>
              </a:r>
              <a:r>
                <a:rPr lang="en-US" sz="3399">
                  <a:solidFill>
                    <a:srgbClr val="000000"/>
                  </a:solidFill>
                  <a:latin typeface="Asap"/>
                  <a:ea typeface="Asap"/>
                  <a:cs typeface="Asap"/>
                  <a:sym typeface="Asap"/>
                </a:rPr>
                <a:t> không thực thi phần mềm, tập trung rà soát tài liệu (Test Plan, Test Design, Test Case, mã nguồn) nhằm phát hiện lỗi sớm, đảm bảo tính đầy đủ, </a:t>
              </a:r>
              <a:r>
                <a:rPr lang="en-US" sz="3399">
                  <a:solidFill>
                    <a:srgbClr val="000000"/>
                  </a:solidFill>
                  <a:latin typeface="Asap"/>
                  <a:ea typeface="Asap"/>
                  <a:cs typeface="Asap"/>
                  <a:sym typeface="Asap"/>
                </a:rPr>
                <a:t>nhất quá</a:t>
              </a:r>
              <a:r>
                <a:rPr lang="en-US" sz="3399">
                  <a:solidFill>
                    <a:srgbClr val="000000"/>
                  </a:solidFill>
                  <a:latin typeface="Asap"/>
                  <a:ea typeface="Asap"/>
                  <a:cs typeface="Asap"/>
                  <a:sym typeface="Asap"/>
                </a:rPr>
                <a:t>n và phù hợp với yêu cầu trước khi kiểm thử động.</a:t>
              </a:r>
            </a:p>
            <a:p>
              <a:pPr algn="just" marL="734059" indent="-367030" lvl="1">
                <a:lnSpc>
                  <a:spcPts val="4419"/>
                </a:lnSpc>
                <a:buFont typeface="Arial"/>
                <a:buChar char="•"/>
              </a:pPr>
              <a:r>
                <a:rPr lang="en-US" sz="3399">
                  <a:solidFill>
                    <a:srgbClr val="000000"/>
                  </a:solidFill>
                  <a:latin typeface="Asap"/>
                  <a:ea typeface="Asap"/>
                  <a:cs typeface="Asap"/>
                  <a:sym typeface="Asap"/>
                </a:rPr>
                <a:t>Cách áp dụng trong đồ án:</a:t>
              </a:r>
            </a:p>
            <a:p>
              <a:pPr algn="just">
                <a:lnSpc>
                  <a:spcPts val="4419"/>
                </a:lnSpc>
              </a:pPr>
              <a:r>
                <a:rPr lang="en-US" sz="3399">
                  <a:solidFill>
                    <a:srgbClr val="000000"/>
                  </a:solidFill>
                  <a:latin typeface="Asap"/>
                  <a:ea typeface="Asap"/>
                  <a:cs typeface="Asap"/>
                  <a:sym typeface="Asap"/>
                </a:rPr>
                <a:t>Thực hiện Checklist Review để tránh bỏ sót nội dung quan trọng.</a:t>
              </a:r>
            </a:p>
            <a:p>
              <a:pPr algn="just">
                <a:lnSpc>
                  <a:spcPts val="4419"/>
                </a:lnSpc>
              </a:pPr>
              <a:r>
                <a:rPr lang="en-US" sz="3399">
                  <a:solidFill>
                    <a:srgbClr val="000000"/>
                  </a:solidFill>
                  <a:latin typeface="Asap"/>
                  <a:ea typeface="Asap"/>
                  <a:cs typeface="Asap"/>
                  <a:sym typeface="Asap"/>
                </a:rPr>
                <a:t>Review Test Case (Excel – Manual): kiểm tra Test Step rõ ràng, Expected Result khớp requirement, Test Data đầy đủ và không trùng lặp.</a:t>
              </a:r>
            </a:p>
            <a:p>
              <a:pPr algn="just">
                <a:lnSpc>
                  <a:spcPts val="4419"/>
                </a:lnSpc>
              </a:pPr>
              <a:r>
                <a:rPr lang="en-US" sz="3399">
                  <a:solidFill>
                    <a:srgbClr val="000000"/>
                  </a:solidFill>
                  <a:latin typeface="Asap"/>
                  <a:ea typeface="Asap"/>
                  <a:cs typeface="Asap"/>
                  <a:sym typeface="Asap"/>
                </a:rPr>
                <a:t>Test Case được xây dựng từ Test Design, phủ đầy đủ chức năng; kết quả kiểm tra đạt Pass.</a:t>
              </a:r>
            </a:p>
            <a:p>
              <a:pPr algn="just" marL="734059" indent="-367030" lvl="1">
                <a:lnSpc>
                  <a:spcPts val="4419"/>
                </a:lnSpc>
                <a:buFont typeface="Arial"/>
                <a:buChar char="•"/>
              </a:pPr>
              <a:r>
                <a:rPr lang="en-US" sz="3399">
                  <a:solidFill>
                    <a:srgbClr val="000000"/>
                  </a:solidFill>
                  <a:latin typeface="Asap"/>
                  <a:ea typeface="Asap"/>
                  <a:cs typeface="Asap"/>
                  <a:sym typeface="Asap"/>
                </a:rPr>
                <a:t>Kết luận:</a:t>
              </a:r>
            </a:p>
            <a:p>
              <a:pPr algn="just">
                <a:lnSpc>
                  <a:spcPts val="4419"/>
                </a:lnSpc>
              </a:pPr>
              <a:r>
                <a:rPr lang="en-US" sz="3399">
                  <a:solidFill>
                    <a:srgbClr val="000000"/>
                  </a:solidFill>
                  <a:latin typeface="Asap"/>
                  <a:ea typeface="Asap"/>
                  <a:cs typeface="Asap"/>
                  <a:sym typeface="Asap"/>
                </a:rPr>
                <a:t> Static Testing tạo nền tảng kiểm thử vững chắc, giảm rủi ro khi chuyển sang Dynamic Testing, góp phần nâng cao chất lượng và hiệu quả toàn bộ quy trình kiểm thử.</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A7DDD5"/>
        </a:solidFill>
      </p:bgPr>
    </p:bg>
    <p:spTree>
      <p:nvGrpSpPr>
        <p:cNvPr id="1" name=""/>
        <p:cNvGrpSpPr/>
        <p:nvPr/>
      </p:nvGrpSpPr>
      <p:grpSpPr>
        <a:xfrm>
          <a:off x="0" y="0"/>
          <a:ext cx="0" cy="0"/>
          <a:chOff x="0" y="0"/>
          <a:chExt cx="0" cy="0"/>
        </a:xfrm>
      </p:grpSpPr>
      <p:sp>
        <p:nvSpPr>
          <p:cNvPr name="Freeform 2" id="2"/>
          <p:cNvSpPr/>
          <p:nvPr/>
        </p:nvSpPr>
        <p:spPr>
          <a:xfrm flipH="false" flipV="false" rot="1954584">
            <a:off x="6272733" y="9387109"/>
            <a:ext cx="4437529" cy="4114800"/>
          </a:xfrm>
          <a:custGeom>
            <a:avLst/>
            <a:gdLst/>
            <a:ahLst/>
            <a:cxnLst/>
            <a:rect r="r" b="b" t="t" l="l"/>
            <a:pathLst>
              <a:path h="4114800" w="4437529">
                <a:moveTo>
                  <a:pt x="0" y="0"/>
                </a:moveTo>
                <a:lnTo>
                  <a:pt x="4437530" y="0"/>
                </a:lnTo>
                <a:lnTo>
                  <a:pt x="44375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23235" y="583226"/>
            <a:ext cx="5542952" cy="890949"/>
            <a:chOff x="0" y="0"/>
            <a:chExt cx="993234" cy="159648"/>
          </a:xfrm>
        </p:grpSpPr>
        <p:sp>
          <p:nvSpPr>
            <p:cNvPr name="Freeform 4" id="4"/>
            <p:cNvSpPr/>
            <p:nvPr/>
          </p:nvSpPr>
          <p:spPr>
            <a:xfrm flipH="false" flipV="false" rot="0">
              <a:off x="0" y="0"/>
              <a:ext cx="993234" cy="159648"/>
            </a:xfrm>
            <a:custGeom>
              <a:avLst/>
              <a:gdLst/>
              <a:ahLst/>
              <a:cxnLst/>
              <a:rect r="r" b="b" t="t" l="l"/>
              <a:pathLst>
                <a:path h="159648" w="993234">
                  <a:moveTo>
                    <a:pt x="27934" y="0"/>
                  </a:moveTo>
                  <a:lnTo>
                    <a:pt x="965300" y="0"/>
                  </a:lnTo>
                  <a:cubicBezTo>
                    <a:pt x="972709" y="0"/>
                    <a:pt x="979814" y="2943"/>
                    <a:pt x="985053" y="8182"/>
                  </a:cubicBezTo>
                  <a:cubicBezTo>
                    <a:pt x="990291" y="13420"/>
                    <a:pt x="993234" y="20526"/>
                    <a:pt x="993234" y="27934"/>
                  </a:cubicBezTo>
                  <a:lnTo>
                    <a:pt x="993234" y="131714"/>
                  </a:lnTo>
                  <a:cubicBezTo>
                    <a:pt x="993234" y="139122"/>
                    <a:pt x="990291" y="146228"/>
                    <a:pt x="985053" y="151466"/>
                  </a:cubicBezTo>
                  <a:cubicBezTo>
                    <a:pt x="979814" y="156705"/>
                    <a:pt x="972709" y="159648"/>
                    <a:pt x="965300" y="159648"/>
                  </a:cubicBezTo>
                  <a:lnTo>
                    <a:pt x="27934" y="159648"/>
                  </a:lnTo>
                  <a:cubicBezTo>
                    <a:pt x="20526" y="159648"/>
                    <a:pt x="13420" y="156705"/>
                    <a:pt x="8182" y="151466"/>
                  </a:cubicBezTo>
                  <a:cubicBezTo>
                    <a:pt x="2943" y="146228"/>
                    <a:pt x="0" y="139122"/>
                    <a:pt x="0" y="131714"/>
                  </a:cubicBezTo>
                  <a:lnTo>
                    <a:pt x="0" y="27934"/>
                  </a:lnTo>
                  <a:cubicBezTo>
                    <a:pt x="0" y="20526"/>
                    <a:pt x="2943" y="13420"/>
                    <a:pt x="8182" y="8182"/>
                  </a:cubicBezTo>
                  <a:cubicBezTo>
                    <a:pt x="13420" y="2943"/>
                    <a:pt x="20526" y="0"/>
                    <a:pt x="27934" y="0"/>
                  </a:cubicBezTo>
                  <a:close/>
                </a:path>
              </a:pathLst>
            </a:custGeom>
            <a:solidFill>
              <a:srgbClr val="FCFEF7"/>
            </a:solidFill>
            <a:ln w="38100" cap="sq">
              <a:solidFill>
                <a:srgbClr val="000000"/>
              </a:solidFill>
              <a:prstDash val="solid"/>
              <a:miter/>
            </a:ln>
          </p:spPr>
        </p:sp>
        <p:sp>
          <p:nvSpPr>
            <p:cNvPr name="TextBox 5" id="5"/>
            <p:cNvSpPr txBox="true"/>
            <p:nvPr/>
          </p:nvSpPr>
          <p:spPr>
            <a:xfrm>
              <a:off x="0" y="-76200"/>
              <a:ext cx="993234" cy="235848"/>
            </a:xfrm>
            <a:prstGeom prst="rect">
              <a:avLst/>
            </a:prstGeom>
          </p:spPr>
          <p:txBody>
            <a:bodyPr anchor="ctr" rtlCol="false" tIns="50800" lIns="50800" bIns="50800" rIns="50800"/>
            <a:lstStyle/>
            <a:p>
              <a:pPr algn="ctr" marL="0" indent="0" lvl="0">
                <a:lnSpc>
                  <a:spcPts val="4760"/>
                </a:lnSpc>
                <a:spcBef>
                  <a:spcPct val="0"/>
                </a:spcBef>
              </a:pPr>
              <a:r>
                <a:rPr lang="en-US" b="true" sz="3400">
                  <a:solidFill>
                    <a:srgbClr val="101010"/>
                  </a:solidFill>
                  <a:latin typeface="Asap Bold"/>
                  <a:ea typeface="Asap Bold"/>
                  <a:cs typeface="Asap Bold"/>
                  <a:sym typeface="Asap Bold"/>
                </a:rPr>
                <a:t>KIỂM THỬ TỰ ĐÔNG</a:t>
              </a:r>
            </a:p>
          </p:txBody>
        </p:sp>
      </p:grpSp>
      <p:grpSp>
        <p:nvGrpSpPr>
          <p:cNvPr name="Group 6" id="6"/>
          <p:cNvGrpSpPr/>
          <p:nvPr/>
        </p:nvGrpSpPr>
        <p:grpSpPr>
          <a:xfrm rot="0">
            <a:off x="1028700" y="2202863"/>
            <a:ext cx="16484495" cy="6530341"/>
            <a:chOff x="0" y="0"/>
            <a:chExt cx="2953835" cy="1170163"/>
          </a:xfrm>
        </p:grpSpPr>
        <p:sp>
          <p:nvSpPr>
            <p:cNvPr name="Freeform 7" id="7"/>
            <p:cNvSpPr/>
            <p:nvPr/>
          </p:nvSpPr>
          <p:spPr>
            <a:xfrm flipH="false" flipV="false" rot="0">
              <a:off x="0" y="0"/>
              <a:ext cx="2953835" cy="1170163"/>
            </a:xfrm>
            <a:custGeom>
              <a:avLst/>
              <a:gdLst/>
              <a:ahLst/>
              <a:cxnLst/>
              <a:rect r="r" b="b" t="t" l="l"/>
              <a:pathLst>
                <a:path h="1170163" w="2953835">
                  <a:moveTo>
                    <a:pt x="9393" y="0"/>
                  </a:moveTo>
                  <a:lnTo>
                    <a:pt x="2944442" y="0"/>
                  </a:lnTo>
                  <a:cubicBezTo>
                    <a:pt x="2946934" y="0"/>
                    <a:pt x="2949323" y="990"/>
                    <a:pt x="2951084" y="2751"/>
                  </a:cubicBezTo>
                  <a:cubicBezTo>
                    <a:pt x="2952846" y="4513"/>
                    <a:pt x="2953835" y="6902"/>
                    <a:pt x="2953835" y="9393"/>
                  </a:cubicBezTo>
                  <a:lnTo>
                    <a:pt x="2953835" y="1160770"/>
                  </a:lnTo>
                  <a:cubicBezTo>
                    <a:pt x="2953835" y="1165958"/>
                    <a:pt x="2949630" y="1170163"/>
                    <a:pt x="2944442" y="1170163"/>
                  </a:cubicBezTo>
                  <a:lnTo>
                    <a:pt x="9393" y="1170163"/>
                  </a:lnTo>
                  <a:cubicBezTo>
                    <a:pt x="6902" y="1170163"/>
                    <a:pt x="4513" y="1169174"/>
                    <a:pt x="2751" y="1167412"/>
                  </a:cubicBezTo>
                  <a:cubicBezTo>
                    <a:pt x="990" y="1165651"/>
                    <a:pt x="0" y="1163262"/>
                    <a:pt x="0" y="1160770"/>
                  </a:cubicBezTo>
                  <a:lnTo>
                    <a:pt x="0" y="9393"/>
                  </a:lnTo>
                  <a:cubicBezTo>
                    <a:pt x="0" y="4205"/>
                    <a:pt x="4205" y="0"/>
                    <a:pt x="9393" y="0"/>
                  </a:cubicBezTo>
                  <a:close/>
                </a:path>
              </a:pathLst>
            </a:custGeom>
            <a:solidFill>
              <a:srgbClr val="FCFEF7"/>
            </a:solidFill>
            <a:ln w="38100" cap="sq">
              <a:solidFill>
                <a:srgbClr val="000000"/>
              </a:solidFill>
              <a:prstDash val="solid"/>
              <a:miter/>
            </a:ln>
          </p:spPr>
        </p:sp>
        <p:sp>
          <p:nvSpPr>
            <p:cNvPr name="TextBox 8" id="8"/>
            <p:cNvSpPr txBox="true"/>
            <p:nvPr/>
          </p:nvSpPr>
          <p:spPr>
            <a:xfrm>
              <a:off x="0" y="-47625"/>
              <a:ext cx="2953835" cy="1217788"/>
            </a:xfrm>
            <a:prstGeom prst="rect">
              <a:avLst/>
            </a:prstGeom>
          </p:spPr>
          <p:txBody>
            <a:bodyPr anchor="ctr" rtlCol="false" tIns="50800" lIns="50800" bIns="50800" rIns="50800"/>
            <a:lstStyle/>
            <a:p>
              <a:pPr algn="just">
                <a:lnSpc>
                  <a:spcPts val="4160"/>
                </a:lnSpc>
                <a:spcBef>
                  <a:spcPct val="0"/>
                </a:spcBef>
              </a:pPr>
              <a:r>
                <a:rPr lang="en-US" sz="3200">
                  <a:solidFill>
                    <a:srgbClr val="000000"/>
                  </a:solidFill>
                  <a:latin typeface="Asap"/>
                  <a:ea typeface="Asap"/>
                  <a:cs typeface="Asap"/>
                  <a:sym typeface="Asap"/>
                </a:rPr>
                <a:t>K</a:t>
              </a:r>
              <a:r>
                <a:rPr lang="en-US" sz="3200" u="none">
                  <a:solidFill>
                    <a:srgbClr val="000000"/>
                  </a:solidFill>
                  <a:latin typeface="Asap"/>
                  <a:ea typeface="Asap"/>
                  <a:cs typeface="Asap"/>
                  <a:sym typeface="Asap"/>
                </a:rPr>
                <a:t>hái niệm:</a:t>
              </a:r>
            </a:p>
            <a:p>
              <a:pPr algn="just">
                <a:lnSpc>
                  <a:spcPts val="4160"/>
                </a:lnSpc>
                <a:spcBef>
                  <a:spcPct val="0"/>
                </a:spcBef>
              </a:pPr>
              <a:r>
                <a:rPr lang="en-US" sz="3200" u="none">
                  <a:solidFill>
                    <a:srgbClr val="000000"/>
                  </a:solidFill>
                  <a:latin typeface="Asap"/>
                  <a:ea typeface="Asap"/>
                  <a:cs typeface="Asap"/>
                  <a:sym typeface="Asap"/>
                </a:rPr>
                <a:t> Kiểm thử tự động là phương pháp thực thi test case bằng script và công cụ, thay thế thao tác thủ công. Cách tiếp cận này giúp giảm công việc lặp lại, tăng tốc độ kiểm thử và đảm bảo tính nhất quán của kết quả. Kiểm thử tự động phù hợp cho các kịch bản ổn định, lặp lại nhiều lần và cần độ chính xác cao.</a:t>
              </a:r>
            </a:p>
            <a:p>
              <a:pPr algn="just">
                <a:lnSpc>
                  <a:spcPts val="4160"/>
                </a:lnSpc>
                <a:spcBef>
                  <a:spcPct val="0"/>
                </a:spcBef>
              </a:pPr>
              <a:r>
                <a:rPr lang="en-US" sz="3200" u="none">
                  <a:solidFill>
                    <a:srgbClr val="000000"/>
                  </a:solidFill>
                  <a:latin typeface="Asap"/>
                  <a:ea typeface="Asap"/>
                  <a:cs typeface="Asap"/>
                  <a:sym typeface="Asap"/>
                </a:rPr>
                <a:t>Áp dụng trong đồ án – Database Testing:</a:t>
              </a:r>
            </a:p>
            <a:p>
              <a:pPr algn="just" marL="690887" indent="-345444" lvl="1">
                <a:lnSpc>
                  <a:spcPts val="4160"/>
                </a:lnSpc>
                <a:spcBef>
                  <a:spcPct val="0"/>
                </a:spcBef>
                <a:buFont typeface="Arial"/>
                <a:buChar char="•"/>
              </a:pPr>
              <a:r>
                <a:rPr lang="en-US" sz="3200" u="none">
                  <a:solidFill>
                    <a:srgbClr val="000000"/>
                  </a:solidFill>
                  <a:latin typeface="Asap"/>
                  <a:ea typeface="Asap"/>
                  <a:cs typeface="Asap"/>
                  <a:sym typeface="Asap"/>
                </a:rPr>
                <a:t>Sử dụng Python script + Selenium để tự động kiểm tra dữ liệu.</a:t>
              </a:r>
            </a:p>
            <a:p>
              <a:pPr algn="just" marL="690887" indent="-345444" lvl="1">
                <a:lnSpc>
                  <a:spcPts val="4160"/>
                </a:lnSpc>
                <a:spcBef>
                  <a:spcPct val="0"/>
                </a:spcBef>
                <a:buFont typeface="Arial"/>
                <a:buChar char="•"/>
              </a:pPr>
              <a:r>
                <a:rPr lang="en-US" sz="3200" u="none">
                  <a:solidFill>
                    <a:srgbClr val="000000"/>
                  </a:solidFill>
                  <a:latin typeface="Asap"/>
                  <a:ea typeface="Asap"/>
                  <a:cs typeface="Asap"/>
                  <a:sym typeface="Asap"/>
                </a:rPr>
                <a:t>Script cập nhật dữ liệu trực tiếp trong MongoDB, sau đó dùng Selenium kiểm tra UI hiển thị có khớp với dữ liệu DB.</a:t>
              </a:r>
            </a:p>
            <a:p>
              <a:pPr algn="just" marL="690887" indent="-345444" lvl="1">
                <a:lnSpc>
                  <a:spcPts val="4160"/>
                </a:lnSpc>
                <a:spcBef>
                  <a:spcPct val="0"/>
                </a:spcBef>
                <a:buFont typeface="Arial"/>
                <a:buChar char="•"/>
              </a:pPr>
              <a:r>
                <a:rPr lang="en-US" sz="3200" u="none">
                  <a:solidFill>
                    <a:srgbClr val="000000"/>
                  </a:solidFill>
                  <a:latin typeface="Asap"/>
                  <a:ea typeface="Asap"/>
                  <a:cs typeface="Asap"/>
                  <a:sym typeface="Asap"/>
                </a:rPr>
                <a:t>Cách làm này giúp xác nhận tính nhất quán giữa Database và giao diện, giảm thời gian so với kiểm thử thủ công.</a:t>
              </a:r>
            </a:p>
            <a:p>
              <a:pPr algn="just">
                <a:lnSpc>
                  <a:spcPts val="4160"/>
                </a:lnSpc>
                <a:spcBef>
                  <a:spcPct val="0"/>
                </a:spcBef>
              </a:pP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A7DDD5"/>
        </a:solidFill>
      </p:bgPr>
    </p:bg>
    <p:spTree>
      <p:nvGrpSpPr>
        <p:cNvPr id="1" name=""/>
        <p:cNvGrpSpPr/>
        <p:nvPr/>
      </p:nvGrpSpPr>
      <p:grpSpPr>
        <a:xfrm>
          <a:off x="0" y="0"/>
          <a:ext cx="0" cy="0"/>
          <a:chOff x="0" y="0"/>
          <a:chExt cx="0" cy="0"/>
        </a:xfrm>
      </p:grpSpPr>
      <p:sp>
        <p:nvSpPr>
          <p:cNvPr name="Freeform 2" id="2"/>
          <p:cNvSpPr/>
          <p:nvPr/>
        </p:nvSpPr>
        <p:spPr>
          <a:xfrm flipH="false" flipV="false" rot="1954584">
            <a:off x="6272733" y="9387109"/>
            <a:ext cx="4437529" cy="4114800"/>
          </a:xfrm>
          <a:custGeom>
            <a:avLst/>
            <a:gdLst/>
            <a:ahLst/>
            <a:cxnLst/>
            <a:rect r="r" b="b" t="t" l="l"/>
            <a:pathLst>
              <a:path h="4114800" w="4437529">
                <a:moveTo>
                  <a:pt x="0" y="0"/>
                </a:moveTo>
                <a:lnTo>
                  <a:pt x="4437530" y="0"/>
                </a:lnTo>
                <a:lnTo>
                  <a:pt x="443753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84000" y="399424"/>
            <a:ext cx="12337218" cy="890949"/>
            <a:chOff x="0" y="0"/>
            <a:chExt cx="2210690" cy="159648"/>
          </a:xfrm>
        </p:grpSpPr>
        <p:sp>
          <p:nvSpPr>
            <p:cNvPr name="Freeform 4" id="4"/>
            <p:cNvSpPr/>
            <p:nvPr/>
          </p:nvSpPr>
          <p:spPr>
            <a:xfrm flipH="false" flipV="false" rot="0">
              <a:off x="0" y="0"/>
              <a:ext cx="2210690" cy="159648"/>
            </a:xfrm>
            <a:custGeom>
              <a:avLst/>
              <a:gdLst/>
              <a:ahLst/>
              <a:cxnLst/>
              <a:rect r="r" b="b" t="t" l="l"/>
              <a:pathLst>
                <a:path h="159648" w="2210690">
                  <a:moveTo>
                    <a:pt x="12551" y="0"/>
                  </a:moveTo>
                  <a:lnTo>
                    <a:pt x="2198140" y="0"/>
                  </a:lnTo>
                  <a:cubicBezTo>
                    <a:pt x="2201468" y="0"/>
                    <a:pt x="2204661" y="1322"/>
                    <a:pt x="2207014" y="3676"/>
                  </a:cubicBezTo>
                  <a:cubicBezTo>
                    <a:pt x="2209368" y="6030"/>
                    <a:pt x="2210690" y="9222"/>
                    <a:pt x="2210690" y="12551"/>
                  </a:cubicBezTo>
                  <a:lnTo>
                    <a:pt x="2210690" y="147097"/>
                  </a:lnTo>
                  <a:cubicBezTo>
                    <a:pt x="2210690" y="150426"/>
                    <a:pt x="2209368" y="153618"/>
                    <a:pt x="2207014" y="155972"/>
                  </a:cubicBezTo>
                  <a:cubicBezTo>
                    <a:pt x="2204661" y="158326"/>
                    <a:pt x="2201468" y="159648"/>
                    <a:pt x="2198140" y="159648"/>
                  </a:cubicBezTo>
                  <a:lnTo>
                    <a:pt x="12551" y="159648"/>
                  </a:lnTo>
                  <a:cubicBezTo>
                    <a:pt x="9222" y="159648"/>
                    <a:pt x="6030" y="158326"/>
                    <a:pt x="3676" y="155972"/>
                  </a:cubicBezTo>
                  <a:cubicBezTo>
                    <a:pt x="1322" y="153618"/>
                    <a:pt x="0" y="150426"/>
                    <a:pt x="0" y="147097"/>
                  </a:cubicBezTo>
                  <a:lnTo>
                    <a:pt x="0" y="12551"/>
                  </a:lnTo>
                  <a:cubicBezTo>
                    <a:pt x="0" y="9222"/>
                    <a:pt x="1322" y="6030"/>
                    <a:pt x="3676" y="3676"/>
                  </a:cubicBezTo>
                  <a:cubicBezTo>
                    <a:pt x="6030" y="1322"/>
                    <a:pt x="9222" y="0"/>
                    <a:pt x="12551" y="0"/>
                  </a:cubicBezTo>
                  <a:close/>
                </a:path>
              </a:pathLst>
            </a:custGeom>
            <a:solidFill>
              <a:srgbClr val="FCFEF7"/>
            </a:solidFill>
            <a:ln w="38100" cap="sq">
              <a:solidFill>
                <a:srgbClr val="000000"/>
              </a:solidFill>
              <a:prstDash val="solid"/>
              <a:miter/>
            </a:ln>
          </p:spPr>
        </p:sp>
        <p:sp>
          <p:nvSpPr>
            <p:cNvPr name="TextBox 5" id="5"/>
            <p:cNvSpPr txBox="true"/>
            <p:nvPr/>
          </p:nvSpPr>
          <p:spPr>
            <a:xfrm>
              <a:off x="0" y="-76200"/>
              <a:ext cx="2210690" cy="235848"/>
            </a:xfrm>
            <a:prstGeom prst="rect">
              <a:avLst/>
            </a:prstGeom>
          </p:spPr>
          <p:txBody>
            <a:bodyPr anchor="ctr" rtlCol="false" tIns="50800" lIns="50800" bIns="50800" rIns="50800"/>
            <a:lstStyle/>
            <a:p>
              <a:pPr algn="ctr" marL="0" indent="0" lvl="0">
                <a:lnSpc>
                  <a:spcPts val="4760"/>
                </a:lnSpc>
                <a:spcBef>
                  <a:spcPct val="0"/>
                </a:spcBef>
              </a:pPr>
              <a:r>
                <a:rPr lang="en-US" b="true" sz="3400">
                  <a:solidFill>
                    <a:srgbClr val="101010"/>
                  </a:solidFill>
                  <a:latin typeface="Asap Bold"/>
                  <a:ea typeface="Asap Bold"/>
                  <a:cs typeface="Asap Bold"/>
                  <a:sym typeface="Asap Bold"/>
                </a:rPr>
                <a:t>KIỂM THỬ TỰ ĐÔNG HIỆU NĂNG (PERFORMANCE TESTING)</a:t>
              </a:r>
            </a:p>
          </p:txBody>
        </p:sp>
      </p:grpSp>
      <p:grpSp>
        <p:nvGrpSpPr>
          <p:cNvPr name="Group 6" id="6"/>
          <p:cNvGrpSpPr/>
          <p:nvPr/>
        </p:nvGrpSpPr>
        <p:grpSpPr>
          <a:xfrm rot="0">
            <a:off x="284000" y="1290372"/>
            <a:ext cx="8502446" cy="8625841"/>
            <a:chOff x="0" y="0"/>
            <a:chExt cx="1523542" cy="1545653"/>
          </a:xfrm>
        </p:grpSpPr>
        <p:sp>
          <p:nvSpPr>
            <p:cNvPr name="Freeform 7" id="7"/>
            <p:cNvSpPr/>
            <p:nvPr/>
          </p:nvSpPr>
          <p:spPr>
            <a:xfrm flipH="false" flipV="false" rot="0">
              <a:off x="0" y="0"/>
              <a:ext cx="1523542" cy="1545653"/>
            </a:xfrm>
            <a:custGeom>
              <a:avLst/>
              <a:gdLst/>
              <a:ahLst/>
              <a:cxnLst/>
              <a:rect r="r" b="b" t="t" l="l"/>
              <a:pathLst>
                <a:path h="1545653" w="1523542">
                  <a:moveTo>
                    <a:pt x="18211" y="0"/>
                  </a:moveTo>
                  <a:lnTo>
                    <a:pt x="1505331" y="0"/>
                  </a:lnTo>
                  <a:cubicBezTo>
                    <a:pt x="1515389" y="0"/>
                    <a:pt x="1523542" y="8153"/>
                    <a:pt x="1523542" y="18211"/>
                  </a:cubicBezTo>
                  <a:lnTo>
                    <a:pt x="1523542" y="1527442"/>
                  </a:lnTo>
                  <a:cubicBezTo>
                    <a:pt x="1523542" y="1537500"/>
                    <a:pt x="1515389" y="1545653"/>
                    <a:pt x="1505331" y="1545653"/>
                  </a:cubicBezTo>
                  <a:lnTo>
                    <a:pt x="18211" y="1545653"/>
                  </a:lnTo>
                  <a:cubicBezTo>
                    <a:pt x="8153" y="1545653"/>
                    <a:pt x="0" y="1537500"/>
                    <a:pt x="0" y="1527442"/>
                  </a:cubicBezTo>
                  <a:lnTo>
                    <a:pt x="0" y="18211"/>
                  </a:lnTo>
                  <a:cubicBezTo>
                    <a:pt x="0" y="8153"/>
                    <a:pt x="8153" y="0"/>
                    <a:pt x="18211" y="0"/>
                  </a:cubicBezTo>
                  <a:close/>
                </a:path>
              </a:pathLst>
            </a:custGeom>
            <a:solidFill>
              <a:srgbClr val="FCFEF7"/>
            </a:solidFill>
            <a:ln w="38100" cap="sq">
              <a:solidFill>
                <a:srgbClr val="000000"/>
              </a:solidFill>
              <a:prstDash val="solid"/>
              <a:miter/>
            </a:ln>
          </p:spPr>
        </p:sp>
        <p:sp>
          <p:nvSpPr>
            <p:cNvPr name="TextBox 8" id="8"/>
            <p:cNvSpPr txBox="true"/>
            <p:nvPr/>
          </p:nvSpPr>
          <p:spPr>
            <a:xfrm>
              <a:off x="0" y="-47625"/>
              <a:ext cx="1523542" cy="1593278"/>
            </a:xfrm>
            <a:prstGeom prst="rect">
              <a:avLst/>
            </a:prstGeom>
          </p:spPr>
          <p:txBody>
            <a:bodyPr anchor="ctr" rtlCol="false" tIns="50800" lIns="50800" bIns="50800" rIns="50800"/>
            <a:lstStyle/>
            <a:p>
              <a:pPr algn="just">
                <a:lnSpc>
                  <a:spcPts val="4160"/>
                </a:lnSpc>
              </a:pPr>
              <a:r>
                <a:rPr lang="en-US" sz="3200">
                  <a:solidFill>
                    <a:srgbClr val="000000"/>
                  </a:solidFill>
                  <a:latin typeface="Asap"/>
                  <a:ea typeface="Asap"/>
                  <a:cs typeface="Asap"/>
                  <a:sym typeface="Asap"/>
                </a:rPr>
                <a:t>Công cụ: Apache JMeter</a:t>
              </a:r>
            </a:p>
            <a:p>
              <a:pPr algn="just" marL="690887" indent="-345444" lvl="1">
                <a:lnSpc>
                  <a:spcPts val="4160"/>
                </a:lnSpc>
                <a:buFont typeface="Arial"/>
                <a:buChar char="•"/>
              </a:pPr>
              <a:r>
                <a:rPr lang="en-US" sz="3200">
                  <a:solidFill>
                    <a:srgbClr val="000000"/>
                  </a:solidFill>
                  <a:latin typeface="Asap"/>
                  <a:ea typeface="Asap"/>
                  <a:cs typeface="Asap"/>
                  <a:sym typeface="Asap"/>
                </a:rPr>
                <a:t>Mô phỏng nhiều người dùng ảo để đo thời gian phản hồi, thông lượng và tỷ lệ lỗi.</a:t>
              </a:r>
            </a:p>
            <a:p>
              <a:pPr algn="just" marL="690887" indent="-345444" lvl="1">
                <a:lnSpc>
                  <a:spcPts val="4160"/>
                </a:lnSpc>
                <a:buFont typeface="Arial"/>
                <a:buChar char="•"/>
              </a:pPr>
              <a:r>
                <a:rPr lang="en-US" sz="3200">
                  <a:solidFill>
                    <a:srgbClr val="000000"/>
                  </a:solidFill>
                  <a:latin typeface="Asap"/>
                  <a:ea typeface="Asap"/>
                  <a:cs typeface="Asap"/>
                  <a:sym typeface="Asap"/>
                </a:rPr>
                <a:t>Dùng để Load Testing và Stress Testing, phát hiện điểm nghẽn và đánh giá độ ổn định hệ thống.</a:t>
              </a:r>
            </a:p>
            <a:p>
              <a:pPr algn="just">
                <a:lnSpc>
                  <a:spcPts val="4160"/>
                </a:lnSpc>
              </a:pPr>
              <a:r>
                <a:rPr lang="en-US" sz="3200">
                  <a:solidFill>
                    <a:srgbClr val="000000"/>
                  </a:solidFill>
                  <a:latin typeface="Asap"/>
                  <a:ea typeface="Asap"/>
                  <a:cs typeface="Asap"/>
                  <a:sym typeface="Asap"/>
                </a:rPr>
                <a:t>Kịch bản áp dụng trong đồ án:</a:t>
              </a:r>
            </a:p>
            <a:p>
              <a:pPr algn="just" marL="690887" indent="-345444" lvl="1">
                <a:lnSpc>
                  <a:spcPts val="4160"/>
                </a:lnSpc>
                <a:buFont typeface="Arial"/>
                <a:buChar char="•"/>
              </a:pPr>
              <a:r>
                <a:rPr lang="en-US" sz="3200">
                  <a:solidFill>
                    <a:srgbClr val="000000"/>
                  </a:solidFill>
                  <a:latin typeface="Asap"/>
                  <a:ea typeface="Asap"/>
                  <a:cs typeface="Asap"/>
                  <a:sym typeface="Asap"/>
                </a:rPr>
                <a:t>500 người dùng ảo thêm sản phẩm vào giỏ hàng.</a:t>
              </a:r>
            </a:p>
            <a:p>
              <a:pPr algn="just" marL="690887" indent="-345444" lvl="1">
                <a:lnSpc>
                  <a:spcPts val="4160"/>
                </a:lnSpc>
                <a:buFont typeface="Arial"/>
                <a:buChar char="•"/>
              </a:pPr>
              <a:r>
                <a:rPr lang="en-US" sz="3200">
                  <a:solidFill>
                    <a:srgbClr val="000000"/>
                  </a:solidFill>
                  <a:latin typeface="Asap"/>
                  <a:ea typeface="Asap"/>
                  <a:cs typeface="Asap"/>
                  <a:sym typeface="Asap"/>
                </a:rPr>
                <a:t>Thread Group: ramp-up 600s, chạy 900s để mô phỏng tải tăng dần.</a:t>
              </a:r>
            </a:p>
            <a:p>
              <a:pPr algn="just" marL="690887" indent="-345444" lvl="1">
                <a:lnSpc>
                  <a:spcPts val="4160"/>
                </a:lnSpc>
                <a:buFont typeface="Arial"/>
                <a:buChar char="•"/>
              </a:pPr>
              <a:r>
                <a:rPr lang="en-US" sz="3200">
                  <a:solidFill>
                    <a:srgbClr val="000000"/>
                  </a:solidFill>
                  <a:latin typeface="Asap"/>
                  <a:ea typeface="Asap"/>
                  <a:cs typeface="Asap"/>
                  <a:sym typeface="Asap"/>
                </a:rPr>
                <a:t>HTTP Request gọi endpoint /api/cart/add với JSON và header xác thực.</a:t>
              </a:r>
            </a:p>
            <a:p>
              <a:pPr algn="just" marL="690887" indent="-345444" lvl="1">
                <a:lnSpc>
                  <a:spcPts val="4160"/>
                </a:lnSpc>
                <a:spcBef>
                  <a:spcPct val="0"/>
                </a:spcBef>
                <a:buFont typeface="Arial"/>
                <a:buChar char="•"/>
              </a:pPr>
              <a:r>
                <a:rPr lang="en-US" sz="3200">
                  <a:solidFill>
                    <a:srgbClr val="000000"/>
                  </a:solidFill>
                  <a:latin typeface="Asap"/>
                  <a:ea typeface="Asap"/>
                  <a:cs typeface="Asap"/>
                  <a:sym typeface="Asap"/>
                </a:rPr>
                <a:t>Kết quả: hệ thống xử lý ổn định, thời gian phản hồi trung bình ~297ms, tỷ lệ lỗi 0%, đáp ứng yêu cầu hiệu năng.</a:t>
              </a:r>
            </a:p>
          </p:txBody>
        </p:sp>
      </p:grpSp>
      <p:sp>
        <p:nvSpPr>
          <p:cNvPr name="Freeform 9" id="9"/>
          <p:cNvSpPr/>
          <p:nvPr/>
        </p:nvSpPr>
        <p:spPr>
          <a:xfrm flipH="false" flipV="false" rot="0">
            <a:off x="9335388" y="2510470"/>
            <a:ext cx="8308666" cy="5599039"/>
          </a:xfrm>
          <a:custGeom>
            <a:avLst/>
            <a:gdLst/>
            <a:ahLst/>
            <a:cxnLst/>
            <a:rect r="r" b="b" t="t" l="l"/>
            <a:pathLst>
              <a:path h="5599039" w="8308666">
                <a:moveTo>
                  <a:pt x="0" y="0"/>
                </a:moveTo>
                <a:lnTo>
                  <a:pt x="8308666" y="0"/>
                </a:lnTo>
                <a:lnTo>
                  <a:pt x="8308666" y="5599039"/>
                </a:lnTo>
                <a:lnTo>
                  <a:pt x="0" y="5599039"/>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DAG74dz_hc0</dc:identifier>
  <dcterms:modified xsi:type="dcterms:W3CDTF">2011-08-01T06:04:30Z</dcterms:modified>
  <cp:revision>1</cp:revision>
  <dc:title>KIỂM THỬ PHẦN MỀM</dc:title>
</cp:coreProperties>
</file>